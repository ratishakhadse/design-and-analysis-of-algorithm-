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 Bold" charset="1" panose="020B0802030000000004"/>
      <p:regular r:id="rId14"/>
    </p:embeddedFont>
    <p:embeddedFont>
      <p:font typeface="Inter Medium" charset="1" panose="02000503000000020004"/>
      <p:regular r:id="rId15"/>
    </p:embeddedFont>
    <p:embeddedFont>
      <p:font typeface="Inter" charset="1" panose="020B0502030000000004"/>
      <p:regular r:id="rId16"/>
    </p:embeddedFont>
    <p:embeddedFont>
      <p:font typeface="Inter Semi-Bold" charset="1" panose="02000503000000020004"/>
      <p:regular r:id="rId17"/>
    </p:embeddedFont>
    <p:embeddedFont>
      <p:font typeface="Inter Ultra-Bold" charset="1" panose="0200050300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26.png" Type="http://schemas.openxmlformats.org/officeDocument/2006/relationships/image"/><Relationship Id="rId18" Target="../media/image27.png" Type="http://schemas.openxmlformats.org/officeDocument/2006/relationships/image"/><Relationship Id="rId19" Target="../media/image28.png" Type="http://schemas.openxmlformats.org/officeDocument/2006/relationships/image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16" Target="../media/image43.png" Type="http://schemas.openxmlformats.org/officeDocument/2006/relationships/image"/><Relationship Id="rId17" Target="../media/image44.png" Type="http://schemas.openxmlformats.org/officeDocument/2006/relationships/image"/><Relationship Id="rId18" Target="../media/image45.png" Type="http://schemas.openxmlformats.org/officeDocument/2006/relationships/image"/><Relationship Id="rId19" Target="../media/image46.png" Type="http://schemas.openxmlformats.org/officeDocument/2006/relationships/image"/><Relationship Id="rId2" Target="../media/image29.png" Type="http://schemas.openxmlformats.org/officeDocument/2006/relationships/image"/><Relationship Id="rId20" Target="../media/image47.png" Type="http://schemas.openxmlformats.org/officeDocument/2006/relationships/image"/><Relationship Id="rId21" Target="../media/image48.png" Type="http://schemas.openxmlformats.org/officeDocument/2006/relationships/image"/><Relationship Id="rId22" Target="../media/image4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12" Target="../media/image60.png" Type="http://schemas.openxmlformats.org/officeDocument/2006/relationships/image"/><Relationship Id="rId13" Target="../media/image61.png" Type="http://schemas.openxmlformats.org/officeDocument/2006/relationships/image"/><Relationship Id="rId14" Target="../media/image62.png" Type="http://schemas.openxmlformats.org/officeDocument/2006/relationships/image"/><Relationship Id="rId15" Target="../media/image63.png" Type="http://schemas.openxmlformats.org/officeDocument/2006/relationships/image"/><Relationship Id="rId16" Target="../media/image64.png" Type="http://schemas.openxmlformats.org/officeDocument/2006/relationships/image"/><Relationship Id="rId17" Target="../media/image65.png" Type="http://schemas.openxmlformats.org/officeDocument/2006/relationships/image"/><Relationship Id="rId18" Target="../media/image66.png" Type="http://schemas.openxmlformats.org/officeDocument/2006/relationships/image"/><Relationship Id="rId19" Target="../media/image67.png" Type="http://schemas.openxmlformats.org/officeDocument/2006/relationships/image"/><Relationship Id="rId2" Target="../media/image50.png" Type="http://schemas.openxmlformats.org/officeDocument/2006/relationships/image"/><Relationship Id="rId20" Target="../media/image68.png" Type="http://schemas.openxmlformats.org/officeDocument/2006/relationships/image"/><Relationship Id="rId21" Target="../media/image69.png" Type="http://schemas.openxmlformats.org/officeDocument/2006/relationships/image"/><Relationship Id="rId22" Target="../media/image70.png" Type="http://schemas.openxmlformats.org/officeDocument/2006/relationships/image"/><Relationship Id="rId23" Target="../media/image71.png" Type="http://schemas.openxmlformats.org/officeDocument/2006/relationships/image"/><Relationship Id="rId24" Target="../media/image72.png" Type="http://schemas.openxmlformats.org/officeDocument/2006/relationships/image"/><Relationship Id="rId25" Target="../media/image73.png" Type="http://schemas.openxmlformats.org/officeDocument/2006/relationships/image"/><Relationship Id="rId26" Target="../media/image74.png" Type="http://schemas.openxmlformats.org/officeDocument/2006/relationships/image"/><Relationship Id="rId27" Target="../media/image75.png" Type="http://schemas.openxmlformats.org/officeDocument/2006/relationships/image"/><Relationship Id="rId28" Target="../media/image76.png" Type="http://schemas.openxmlformats.org/officeDocument/2006/relationships/image"/><Relationship Id="rId29" Target="../media/image77.png" Type="http://schemas.openxmlformats.org/officeDocument/2006/relationships/image"/><Relationship Id="rId3" Target="../media/image51.png" Type="http://schemas.openxmlformats.org/officeDocument/2006/relationships/image"/><Relationship Id="rId30" Target="../media/image78.png" Type="http://schemas.openxmlformats.org/officeDocument/2006/relationships/image"/><Relationship Id="rId31" Target="../media/image79.png" Type="http://schemas.openxmlformats.org/officeDocument/2006/relationships/image"/><Relationship Id="rId32" Target="../media/image80.png" Type="http://schemas.openxmlformats.org/officeDocument/2006/relationships/image"/><Relationship Id="rId33" Target="../media/image81.png" Type="http://schemas.openxmlformats.org/officeDocument/2006/relationships/image"/><Relationship Id="rId34" Target="../media/image82.png" Type="http://schemas.openxmlformats.org/officeDocument/2006/relationships/image"/><Relationship Id="rId35" Target="../media/image83.png" Type="http://schemas.openxmlformats.org/officeDocument/2006/relationships/image"/><Relationship Id="rId36" Target="../media/image84.png" Type="http://schemas.openxmlformats.org/officeDocument/2006/relationships/image"/><Relationship Id="rId37" Target="../media/image85.png" Type="http://schemas.openxmlformats.org/officeDocument/2006/relationships/image"/><Relationship Id="rId38" Target="../media/image86.png" Type="http://schemas.openxmlformats.org/officeDocument/2006/relationships/image"/><Relationship Id="rId39" Target="../media/image87.png" Type="http://schemas.openxmlformats.org/officeDocument/2006/relationships/image"/><Relationship Id="rId4" Target="../media/image52.png" Type="http://schemas.openxmlformats.org/officeDocument/2006/relationships/image"/><Relationship Id="rId40" Target="../media/image88.png" Type="http://schemas.openxmlformats.org/officeDocument/2006/relationships/image"/><Relationship Id="rId41" Target="../media/image89.png" Type="http://schemas.openxmlformats.org/officeDocument/2006/relationships/image"/><Relationship Id="rId42" Target="../media/image90.png" Type="http://schemas.openxmlformats.org/officeDocument/2006/relationships/image"/><Relationship Id="rId43" Target="../media/image91.png" Type="http://schemas.openxmlformats.org/officeDocument/2006/relationships/image"/><Relationship Id="rId44" Target="../media/image92.png" Type="http://schemas.openxmlformats.org/officeDocument/2006/relationships/image"/><Relationship Id="rId45" Target="../media/image93.png" Type="http://schemas.openxmlformats.org/officeDocument/2006/relationships/image"/><Relationship Id="rId46" Target="../media/image94.png" Type="http://schemas.openxmlformats.org/officeDocument/2006/relationships/image"/><Relationship Id="rId47" Target="../media/image95.png" Type="http://schemas.openxmlformats.org/officeDocument/2006/relationships/image"/><Relationship Id="rId48" Target="../media/image96.png" Type="http://schemas.openxmlformats.org/officeDocument/2006/relationships/image"/><Relationship Id="rId49" Target="../media/image97.png" Type="http://schemas.openxmlformats.org/officeDocument/2006/relationships/image"/><Relationship Id="rId5" Target="../media/image53.png" Type="http://schemas.openxmlformats.org/officeDocument/2006/relationships/image"/><Relationship Id="rId50" Target="../media/image98.png" Type="http://schemas.openxmlformats.org/officeDocument/2006/relationships/image"/><Relationship Id="rId51" Target="../media/image99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png" Type="http://schemas.openxmlformats.org/officeDocument/2006/relationships/image"/><Relationship Id="rId11" Target="../media/image109.png" Type="http://schemas.openxmlformats.org/officeDocument/2006/relationships/image"/><Relationship Id="rId12" Target="../media/image110.png" Type="http://schemas.openxmlformats.org/officeDocument/2006/relationships/image"/><Relationship Id="rId13" Target="../media/image111.png" Type="http://schemas.openxmlformats.org/officeDocument/2006/relationships/image"/><Relationship Id="rId14" Target="../media/image112.png" Type="http://schemas.openxmlformats.org/officeDocument/2006/relationships/image"/><Relationship Id="rId15" Target="../media/image113.png" Type="http://schemas.openxmlformats.org/officeDocument/2006/relationships/image"/><Relationship Id="rId16" Target="../media/image114.png" Type="http://schemas.openxmlformats.org/officeDocument/2006/relationships/image"/><Relationship Id="rId2" Target="../media/image100.png" Type="http://schemas.openxmlformats.org/officeDocument/2006/relationships/image"/><Relationship Id="rId3" Target="../media/image101.pn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104.png" Type="http://schemas.openxmlformats.org/officeDocument/2006/relationships/image"/><Relationship Id="rId7" Target="../media/image105.png" Type="http://schemas.openxmlformats.org/officeDocument/2006/relationships/image"/><Relationship Id="rId8" Target="../media/image106.png" Type="http://schemas.openxmlformats.org/officeDocument/2006/relationships/image"/><Relationship Id="rId9" Target="../media/image10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png" Type="http://schemas.openxmlformats.org/officeDocument/2006/relationships/image"/><Relationship Id="rId11" Target="../media/image124.png" Type="http://schemas.openxmlformats.org/officeDocument/2006/relationships/image"/><Relationship Id="rId12" Target="../media/image125.png" Type="http://schemas.openxmlformats.org/officeDocument/2006/relationships/image"/><Relationship Id="rId13" Target="../media/image126.png" Type="http://schemas.openxmlformats.org/officeDocument/2006/relationships/image"/><Relationship Id="rId14" Target="../media/image127.png" Type="http://schemas.openxmlformats.org/officeDocument/2006/relationships/image"/><Relationship Id="rId15" Target="../media/image128.png" Type="http://schemas.openxmlformats.org/officeDocument/2006/relationships/image"/><Relationship Id="rId16" Target="../media/image129.png" Type="http://schemas.openxmlformats.org/officeDocument/2006/relationships/image"/><Relationship Id="rId17" Target="../media/image130.png" Type="http://schemas.openxmlformats.org/officeDocument/2006/relationships/image"/><Relationship Id="rId18" Target="../media/image131.png" Type="http://schemas.openxmlformats.org/officeDocument/2006/relationships/image"/><Relationship Id="rId19" Target="../media/image132.png" Type="http://schemas.openxmlformats.org/officeDocument/2006/relationships/image"/><Relationship Id="rId2" Target="../media/image115.png" Type="http://schemas.openxmlformats.org/officeDocument/2006/relationships/image"/><Relationship Id="rId20" Target="../media/image133.png" Type="http://schemas.openxmlformats.org/officeDocument/2006/relationships/image"/><Relationship Id="rId21" Target="../media/image134.png" Type="http://schemas.openxmlformats.org/officeDocument/2006/relationships/image"/><Relationship Id="rId22" Target="../media/image135.png" Type="http://schemas.openxmlformats.org/officeDocument/2006/relationships/image"/><Relationship Id="rId23" Target="../media/image136.png" Type="http://schemas.openxmlformats.org/officeDocument/2006/relationships/image"/><Relationship Id="rId24" Target="../media/image137.png" Type="http://schemas.openxmlformats.org/officeDocument/2006/relationships/image"/><Relationship Id="rId25" Target="../media/image138.png" Type="http://schemas.openxmlformats.org/officeDocument/2006/relationships/image"/><Relationship Id="rId26" Target="../media/image139.png" Type="http://schemas.openxmlformats.org/officeDocument/2006/relationships/image"/><Relationship Id="rId27" Target="../media/image140.png" Type="http://schemas.openxmlformats.org/officeDocument/2006/relationships/image"/><Relationship Id="rId3" Target="../media/image116.png" Type="http://schemas.openxmlformats.org/officeDocument/2006/relationships/image"/><Relationship Id="rId4" Target="../media/image117.png" Type="http://schemas.openxmlformats.org/officeDocument/2006/relationships/image"/><Relationship Id="rId5" Target="../media/image118.png" Type="http://schemas.openxmlformats.org/officeDocument/2006/relationships/image"/><Relationship Id="rId6" Target="../media/image119.png" Type="http://schemas.openxmlformats.org/officeDocument/2006/relationships/image"/><Relationship Id="rId7" Target="../media/image120.png" Type="http://schemas.openxmlformats.org/officeDocument/2006/relationships/image"/><Relationship Id="rId8" Target="../media/image121.pn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9.png" Type="http://schemas.openxmlformats.org/officeDocument/2006/relationships/image"/><Relationship Id="rId11" Target="../media/image150.png" Type="http://schemas.openxmlformats.org/officeDocument/2006/relationships/image"/><Relationship Id="rId12" Target="../media/image151.png" Type="http://schemas.openxmlformats.org/officeDocument/2006/relationships/image"/><Relationship Id="rId13" Target="../media/image152.png" Type="http://schemas.openxmlformats.org/officeDocument/2006/relationships/image"/><Relationship Id="rId14" Target="../media/image153.png" Type="http://schemas.openxmlformats.org/officeDocument/2006/relationships/image"/><Relationship Id="rId15" Target="../media/image154.png" Type="http://schemas.openxmlformats.org/officeDocument/2006/relationships/image"/><Relationship Id="rId2" Target="../media/image141.png" Type="http://schemas.openxmlformats.org/officeDocument/2006/relationships/image"/><Relationship Id="rId3" Target="../media/image142.png" Type="http://schemas.openxmlformats.org/officeDocument/2006/relationships/image"/><Relationship Id="rId4" Target="../media/image143.png" Type="http://schemas.openxmlformats.org/officeDocument/2006/relationships/image"/><Relationship Id="rId5" Target="../media/image144.png" Type="http://schemas.openxmlformats.org/officeDocument/2006/relationships/image"/><Relationship Id="rId6" Target="../media/image145.png" Type="http://schemas.openxmlformats.org/officeDocument/2006/relationships/image"/><Relationship Id="rId7" Target="../media/image146.png" Type="http://schemas.openxmlformats.org/officeDocument/2006/relationships/image"/><Relationship Id="rId8" Target="../media/image147.png" Type="http://schemas.openxmlformats.org/officeDocument/2006/relationships/image"/><Relationship Id="rId9" Target="../media/image14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3.png" Type="http://schemas.openxmlformats.org/officeDocument/2006/relationships/image"/><Relationship Id="rId11" Target="../media/image164.png" Type="http://schemas.openxmlformats.org/officeDocument/2006/relationships/image"/><Relationship Id="rId12" Target="../media/image165.png" Type="http://schemas.openxmlformats.org/officeDocument/2006/relationships/image"/><Relationship Id="rId13" Target="../media/image166.png" Type="http://schemas.openxmlformats.org/officeDocument/2006/relationships/image"/><Relationship Id="rId14" Target="../media/image167.png" Type="http://schemas.openxmlformats.org/officeDocument/2006/relationships/image"/><Relationship Id="rId15" Target="../media/image168.png" Type="http://schemas.openxmlformats.org/officeDocument/2006/relationships/image"/><Relationship Id="rId16" Target="../media/image169.png" Type="http://schemas.openxmlformats.org/officeDocument/2006/relationships/image"/><Relationship Id="rId17" Target="../media/image170.png" Type="http://schemas.openxmlformats.org/officeDocument/2006/relationships/image"/><Relationship Id="rId18" Target="../media/image171.png" Type="http://schemas.openxmlformats.org/officeDocument/2006/relationships/image"/><Relationship Id="rId19" Target="../media/image172.png" Type="http://schemas.openxmlformats.org/officeDocument/2006/relationships/image"/><Relationship Id="rId2" Target="../media/image155.png" Type="http://schemas.openxmlformats.org/officeDocument/2006/relationships/image"/><Relationship Id="rId20" Target="../media/image173.png" Type="http://schemas.openxmlformats.org/officeDocument/2006/relationships/image"/><Relationship Id="rId21" Target="../media/image174.png" Type="http://schemas.openxmlformats.org/officeDocument/2006/relationships/image"/><Relationship Id="rId22" Target="../media/image175.png" Type="http://schemas.openxmlformats.org/officeDocument/2006/relationships/image"/><Relationship Id="rId23" Target="../media/image176.png" Type="http://schemas.openxmlformats.org/officeDocument/2006/relationships/image"/><Relationship Id="rId24" Target="../media/image177.png" Type="http://schemas.openxmlformats.org/officeDocument/2006/relationships/image"/><Relationship Id="rId25" Target="../media/image178.png" Type="http://schemas.openxmlformats.org/officeDocument/2006/relationships/image"/><Relationship Id="rId26" Target="../media/image179.png" Type="http://schemas.openxmlformats.org/officeDocument/2006/relationships/image"/><Relationship Id="rId27" Target="../media/image180.png" Type="http://schemas.openxmlformats.org/officeDocument/2006/relationships/image"/><Relationship Id="rId3" Target="../media/image156.png" Type="http://schemas.openxmlformats.org/officeDocument/2006/relationships/image"/><Relationship Id="rId4" Target="../media/image157.png" Type="http://schemas.openxmlformats.org/officeDocument/2006/relationships/image"/><Relationship Id="rId5" Target="../media/image158.png" Type="http://schemas.openxmlformats.org/officeDocument/2006/relationships/image"/><Relationship Id="rId6" Target="../media/image159.png" Type="http://schemas.openxmlformats.org/officeDocument/2006/relationships/image"/><Relationship Id="rId7" Target="../media/image160.png" Type="http://schemas.openxmlformats.org/officeDocument/2006/relationships/image"/><Relationship Id="rId8" Target="../media/image161.png" Type="http://schemas.openxmlformats.org/officeDocument/2006/relationships/image"/><Relationship Id="rId9" Target="../media/image16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47028" y="632550"/>
            <a:ext cx="10319980" cy="1647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68"/>
              </a:lnSpc>
            </a:pPr>
            <a:r>
              <a:rPr lang="en-US" b="true" sz="12368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MERGE SORT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52774" y="2168157"/>
            <a:ext cx="9708490" cy="165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62"/>
              </a:lnSpc>
            </a:pPr>
            <a:r>
              <a:rPr lang="en-US" b="true" sz="12462">
                <a:solidFill>
                  <a:srgbClr val="0573FB"/>
                </a:solidFill>
                <a:latin typeface="Inter Bold"/>
                <a:ea typeface="Inter Bold"/>
                <a:cs typeface="Inter Bold"/>
                <a:sym typeface="Inter Bold"/>
              </a:rPr>
              <a:t>ALGORITHM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21656" y="3876608"/>
            <a:ext cx="5770723" cy="522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sz="3893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Divide. Conquer. Merge.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26574" y="5356674"/>
            <a:ext cx="6114230" cy="1508614"/>
          </a:xfrm>
          <a:custGeom>
            <a:avLst/>
            <a:gdLst/>
            <a:ahLst/>
            <a:cxnLst/>
            <a:rect r="r" b="b" t="t" l="l"/>
            <a:pathLst>
              <a:path h="1508614" w="6114230">
                <a:moveTo>
                  <a:pt x="0" y="0"/>
                </a:moveTo>
                <a:lnTo>
                  <a:pt x="6114230" y="0"/>
                </a:lnTo>
                <a:lnTo>
                  <a:pt x="6114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3830" y="5761485"/>
            <a:ext cx="542032" cy="56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216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38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31301" y="5788512"/>
            <a:ext cx="488935" cy="5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8"/>
              </a:lnSpc>
            </a:pPr>
            <a:r>
              <a:rPr lang="en-US" sz="3142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27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59347" y="5761485"/>
            <a:ext cx="547342" cy="56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216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43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311110" y="4493047"/>
            <a:ext cx="5447024" cy="3224936"/>
          </a:xfrm>
          <a:custGeom>
            <a:avLst/>
            <a:gdLst/>
            <a:ahLst/>
            <a:cxnLst/>
            <a:rect r="r" b="b" t="t" l="l"/>
            <a:pathLst>
              <a:path h="3224936" w="5447024">
                <a:moveTo>
                  <a:pt x="0" y="0"/>
                </a:moveTo>
                <a:lnTo>
                  <a:pt x="5447024" y="0"/>
                </a:lnTo>
                <a:lnTo>
                  <a:pt x="544702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11110" y="5783021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320622" y="5783021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747196" y="5356674"/>
            <a:ext cx="6114230" cy="1508614"/>
          </a:xfrm>
          <a:custGeom>
            <a:avLst/>
            <a:gdLst/>
            <a:ahLst/>
            <a:cxnLst/>
            <a:rect r="r" b="b" t="t" l="l"/>
            <a:pathLst>
              <a:path h="1508614" w="6114230">
                <a:moveTo>
                  <a:pt x="0" y="0"/>
                </a:moveTo>
                <a:lnTo>
                  <a:pt x="6114230" y="0"/>
                </a:lnTo>
                <a:lnTo>
                  <a:pt x="611423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826002" y="5804465"/>
            <a:ext cx="430971" cy="49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9"/>
              </a:lnSpc>
            </a:pPr>
            <a:r>
              <a:rPr lang="en-US" sz="2992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18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00691" y="5788512"/>
            <a:ext cx="488935" cy="53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8"/>
              </a:lnSpc>
            </a:pPr>
            <a:r>
              <a:rPr lang="en-US" sz="3142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27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208276" y="5761485"/>
            <a:ext cx="542032" cy="56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216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38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62871" y="5761485"/>
            <a:ext cx="547342" cy="56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216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43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5414" y="8597416"/>
            <a:ext cx="2893219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Design and Analysis of Algorithms (DAA)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3478220" y="7925691"/>
            <a:ext cx="229694" cy="1727254"/>
          </a:xfrm>
          <a:custGeom>
            <a:avLst/>
            <a:gdLst/>
            <a:ahLst/>
            <a:cxnLst/>
            <a:rect r="r" b="b" t="t" l="l"/>
            <a:pathLst>
              <a:path h="1727254" w="22969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857625" y="8597974"/>
            <a:ext cx="2893219" cy="38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Ratisha Khadse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748622" y="7925691"/>
            <a:ext cx="218756" cy="1727254"/>
          </a:xfrm>
          <a:custGeom>
            <a:avLst/>
            <a:gdLst/>
            <a:ahLst/>
            <a:cxnLst/>
            <a:rect r="r" b="b" t="t" l="l"/>
            <a:pathLst>
              <a:path h="1727254" w="218756">
                <a:moveTo>
                  <a:pt x="0" y="0"/>
                </a:moveTo>
                <a:lnTo>
                  <a:pt x="218756" y="0"/>
                </a:lnTo>
                <a:lnTo>
                  <a:pt x="21875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527727" y="8116027"/>
            <a:ext cx="3241477" cy="38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b="true" sz="2254">
                <a:solidFill>
                  <a:srgbClr val="16C2D5"/>
                </a:solidFill>
                <a:latin typeface="Inter Bold"/>
                <a:ea typeface="Inter Bold"/>
                <a:cs typeface="Inter Bold"/>
                <a:sym typeface="Inter Bold"/>
              </a:rPr>
              <a:t>PRN :25070521193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101866" y="7925691"/>
            <a:ext cx="229694" cy="1727254"/>
          </a:xfrm>
          <a:custGeom>
            <a:avLst/>
            <a:gdLst/>
            <a:ahLst/>
            <a:cxnLst/>
            <a:rect r="r" b="b" t="t" l="l"/>
            <a:pathLst>
              <a:path h="1727254" w="22969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438930" y="8597974"/>
            <a:ext cx="2893219" cy="38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4361330" y="7925691"/>
            <a:ext cx="229694" cy="1727254"/>
          </a:xfrm>
          <a:custGeom>
            <a:avLst/>
            <a:gdLst/>
            <a:ahLst/>
            <a:cxnLst/>
            <a:rect r="r" b="b" t="t" l="l"/>
            <a:pathLst>
              <a:path h="1727254" w="22969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845159" y="8793765"/>
            <a:ext cx="2946797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symbiosis institute of technology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57625" y="8116027"/>
            <a:ext cx="2893219" cy="38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b="true" sz="2254">
                <a:solidFill>
                  <a:srgbClr val="16C2D5"/>
                </a:solidFill>
                <a:latin typeface="Inter Bold"/>
                <a:ea typeface="Inter Bold"/>
                <a:cs typeface="Inter Bold"/>
                <a:sym typeface="Inter Bold"/>
              </a:rPr>
              <a:t>PRESENTER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87562" y="8116027"/>
            <a:ext cx="2893219" cy="38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b="true" sz="2254">
                <a:solidFill>
                  <a:srgbClr val="16C2D5"/>
                </a:solidFill>
                <a:latin typeface="Inter Bold"/>
                <a:ea typeface="Inter Bold"/>
                <a:cs typeface="Inter Bold"/>
                <a:sym typeface="Inter Bold"/>
              </a:rPr>
              <a:t>COLLEGE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38930" y="8116027"/>
            <a:ext cx="2893219" cy="38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b="true" sz="2254">
                <a:solidFill>
                  <a:srgbClr val="16C2D5"/>
                </a:solidFill>
                <a:latin typeface="Inter Bold"/>
                <a:ea typeface="Inter Bold"/>
                <a:cs typeface="Inter Bold"/>
                <a:sym typeface="Inter Bold"/>
              </a:rPr>
              <a:t>SECTION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5414" y="8116027"/>
            <a:ext cx="2893219" cy="383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b="true" sz="2254">
                <a:solidFill>
                  <a:srgbClr val="16C2D5"/>
                </a:solidFill>
                <a:latin typeface="Inter Bold"/>
                <a:ea typeface="Inter Bold"/>
                <a:cs typeface="Inter Bold"/>
                <a:sym typeface="Inter Bold"/>
              </a:rPr>
              <a:t>SUBJECT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08916" y="5804465"/>
            <a:ext cx="430971" cy="49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9"/>
              </a:lnSpc>
            </a:pPr>
            <a:r>
              <a:rPr lang="en-US" sz="2992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18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69443" y="5802443"/>
            <a:ext cx="405307" cy="49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sz="2880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12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885756" y="5802443"/>
            <a:ext cx="416369" cy="49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sz="2880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31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08373" y="5802443"/>
            <a:ext cx="405307" cy="49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sz="2880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12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467435" y="5802443"/>
            <a:ext cx="416369" cy="49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2"/>
              </a:lnSpc>
            </a:pPr>
            <a:r>
              <a:rPr lang="en-US" sz="2880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31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13512" y="5754931"/>
            <a:ext cx="280529" cy="57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4"/>
              </a:lnSpc>
            </a:pPr>
            <a:r>
              <a:rPr lang="en-US" sz="3403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9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123215" y="5754931"/>
            <a:ext cx="280529" cy="57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4"/>
              </a:lnSpc>
            </a:pPr>
            <a:r>
              <a:rPr lang="en-US" sz="3403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0913" y="515412"/>
            <a:ext cx="6129017" cy="205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91"/>
              </a:lnSpc>
            </a:pPr>
            <a:r>
              <a:rPr lang="en-US" sz="8240" spc="-164" b="true">
                <a:solidFill>
                  <a:srgbClr val="19274B"/>
                </a:solidFill>
                <a:latin typeface="Inter Bold"/>
                <a:ea typeface="Inter Bold"/>
                <a:cs typeface="Inter Bold"/>
                <a:sym typeface="Inter Bold"/>
              </a:rPr>
              <a:t>What Is</a:t>
            </a:r>
          </a:p>
          <a:p>
            <a:pPr algn="l">
              <a:lnSpc>
                <a:spcPts val="7991"/>
              </a:lnSpc>
            </a:pPr>
            <a:r>
              <a:rPr lang="en-US" sz="8240" spc="-164" b="true">
                <a:solidFill>
                  <a:srgbClr val="0F43D1"/>
                </a:solidFill>
                <a:latin typeface="Inter Bold"/>
                <a:ea typeface="Inter Bold"/>
                <a:cs typeface="Inter Bold"/>
                <a:sym typeface="Inter Bold"/>
              </a:rPr>
              <a:t>Merge Sort?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2203" y="2825083"/>
            <a:ext cx="7313414" cy="2120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spc="-46" b="true">
                <a:solidFill>
                  <a:srgbClr val="252F5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Comparison-based sorting algorithm</a:t>
            </a:r>
          </a:p>
          <a:p>
            <a:pPr algn="l">
              <a:lnSpc>
                <a:spcPts val="3482"/>
              </a:lnSpc>
            </a:pPr>
            <a:r>
              <a:rPr lang="en-US" sz="2321" spc="-46" b="true">
                <a:solidFill>
                  <a:srgbClr val="252F5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Uses Divide and Conquer technique</a:t>
            </a:r>
          </a:p>
          <a:p>
            <a:pPr algn="l">
              <a:lnSpc>
                <a:spcPts val="3482"/>
              </a:lnSpc>
            </a:pPr>
            <a:r>
              <a:rPr lang="en-US" sz="2321" spc="-46" b="true">
                <a:solidFill>
                  <a:srgbClr val="252F5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Divides array into smaller subarrays</a:t>
            </a:r>
          </a:p>
          <a:p>
            <a:pPr algn="l">
              <a:lnSpc>
                <a:spcPts val="3482"/>
              </a:lnSpc>
            </a:pPr>
            <a:r>
              <a:rPr lang="en-US" sz="2321" spc="-46" b="true">
                <a:solidFill>
                  <a:srgbClr val="252F5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Recursively sorts subarrays and merges them</a:t>
            </a:r>
          </a:p>
          <a:p>
            <a:pPr algn="l">
              <a:lnSpc>
                <a:spcPts val="3482"/>
              </a:lnSpc>
            </a:pPr>
            <a:r>
              <a:rPr lang="en-US" sz="2321" spc="-46" b="true">
                <a:solidFill>
                  <a:srgbClr val="252F5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Developed by John von Neumann in 1945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5138034"/>
            <a:ext cx="3281340" cy="2372241"/>
          </a:xfrm>
          <a:custGeom>
            <a:avLst/>
            <a:gdLst/>
            <a:ahLst/>
            <a:cxnLst/>
            <a:rect r="r" b="b" t="t" l="l"/>
            <a:pathLst>
              <a:path h="2372241" w="3281340">
                <a:moveTo>
                  <a:pt x="0" y="0"/>
                </a:moveTo>
                <a:lnTo>
                  <a:pt x="3281340" y="0"/>
                </a:lnTo>
                <a:lnTo>
                  <a:pt x="328134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84987" y="5530062"/>
            <a:ext cx="1796950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b="true" sz="2575" spc="-51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UNSORTED</a:t>
            </a:r>
          </a:p>
          <a:p>
            <a:pPr algn="ctr">
              <a:lnSpc>
                <a:spcPts val="3090"/>
              </a:lnSpc>
            </a:pPr>
            <a:r>
              <a:rPr lang="en-US" b="true" sz="2575" spc="-51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ARRAY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6428009"/>
            <a:ext cx="2843828" cy="644987"/>
          </a:xfrm>
          <a:custGeom>
            <a:avLst/>
            <a:gdLst/>
            <a:ahLst/>
            <a:cxnLst/>
            <a:rect r="r" b="b" t="t" l="l"/>
            <a:pathLst>
              <a:path h="644987" w="2843828">
                <a:moveTo>
                  <a:pt x="0" y="0"/>
                </a:moveTo>
                <a:lnTo>
                  <a:pt x="2843828" y="0"/>
                </a:lnTo>
                <a:lnTo>
                  <a:pt x="284382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78220" y="599072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134488" y="5138034"/>
            <a:ext cx="3051646" cy="2372241"/>
          </a:xfrm>
          <a:custGeom>
            <a:avLst/>
            <a:gdLst/>
            <a:ahLst/>
            <a:cxnLst/>
            <a:rect r="r" b="b" t="t" l="l"/>
            <a:pathLst>
              <a:path h="2372241" w="3051646">
                <a:moveTo>
                  <a:pt x="0" y="0"/>
                </a:moveTo>
                <a:lnTo>
                  <a:pt x="3051646" y="0"/>
                </a:lnTo>
                <a:lnTo>
                  <a:pt x="305164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146566" y="5530061"/>
            <a:ext cx="1121153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b="true" sz="2654" spc="-53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DIVIDE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353244" y="5990729"/>
            <a:ext cx="2614134" cy="1300906"/>
          </a:xfrm>
          <a:custGeom>
            <a:avLst/>
            <a:gdLst/>
            <a:ahLst/>
            <a:cxnLst/>
            <a:rect r="r" b="b" t="t" l="l"/>
            <a:pathLst>
              <a:path h="1300906" w="2614134">
                <a:moveTo>
                  <a:pt x="0" y="0"/>
                </a:moveTo>
                <a:lnTo>
                  <a:pt x="2614134" y="0"/>
                </a:lnTo>
                <a:lnTo>
                  <a:pt x="261413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75196" y="5990729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612708" y="5138034"/>
            <a:ext cx="3281340" cy="2372241"/>
          </a:xfrm>
          <a:custGeom>
            <a:avLst/>
            <a:gdLst/>
            <a:ahLst/>
            <a:cxnLst/>
            <a:rect r="r" b="b" t="t" l="l"/>
            <a:pathLst>
              <a:path h="2372241" w="3281340">
                <a:moveTo>
                  <a:pt x="0" y="0"/>
                </a:moveTo>
                <a:lnTo>
                  <a:pt x="3281340" y="0"/>
                </a:lnTo>
                <a:lnTo>
                  <a:pt x="328134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150217" y="5530062"/>
            <a:ext cx="2074721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b="true" sz="2575" spc="-51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SORT SMALL PARTS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831464" y="6428009"/>
            <a:ext cx="2625072" cy="644987"/>
          </a:xfrm>
          <a:custGeom>
            <a:avLst/>
            <a:gdLst/>
            <a:ahLst/>
            <a:cxnLst/>
            <a:rect r="r" b="b" t="t" l="l"/>
            <a:pathLst>
              <a:path h="644987" w="2625072">
                <a:moveTo>
                  <a:pt x="0" y="0"/>
                </a:moveTo>
                <a:lnTo>
                  <a:pt x="2625072" y="0"/>
                </a:lnTo>
                <a:lnTo>
                  <a:pt x="262507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664354" y="599072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101866" y="5138034"/>
            <a:ext cx="3270402" cy="2372241"/>
          </a:xfrm>
          <a:custGeom>
            <a:avLst/>
            <a:gdLst/>
            <a:ahLst/>
            <a:cxnLst/>
            <a:rect r="r" b="b" t="t" l="l"/>
            <a:pathLst>
              <a:path h="2372241" w="3270402">
                <a:moveTo>
                  <a:pt x="0" y="0"/>
                </a:moveTo>
                <a:lnTo>
                  <a:pt x="3270402" y="0"/>
                </a:lnTo>
                <a:lnTo>
                  <a:pt x="327040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205601" y="5530061"/>
            <a:ext cx="1201285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b="true" sz="2654" spc="-53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MERGE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528440" y="5990729"/>
            <a:ext cx="2406316" cy="1300906"/>
          </a:xfrm>
          <a:custGeom>
            <a:avLst/>
            <a:gdLst/>
            <a:ahLst/>
            <a:cxnLst/>
            <a:rect r="r" b="b" t="t" l="l"/>
            <a:pathLst>
              <a:path h="1300906" w="2406316">
                <a:moveTo>
                  <a:pt x="0" y="0"/>
                </a:moveTo>
                <a:lnTo>
                  <a:pt x="2406316" y="0"/>
                </a:lnTo>
                <a:lnTo>
                  <a:pt x="240631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142574" y="599072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798842" y="5138034"/>
            <a:ext cx="3062584" cy="2372241"/>
          </a:xfrm>
          <a:custGeom>
            <a:avLst/>
            <a:gdLst/>
            <a:ahLst/>
            <a:cxnLst/>
            <a:rect r="r" b="b" t="t" l="l"/>
            <a:pathLst>
              <a:path h="2372241" w="3062584">
                <a:moveTo>
                  <a:pt x="0" y="0"/>
                </a:moveTo>
                <a:lnTo>
                  <a:pt x="3062584" y="0"/>
                </a:lnTo>
                <a:lnTo>
                  <a:pt x="306258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657555" y="5530062"/>
            <a:ext cx="1316110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b="true" sz="2575" spc="-51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SORTED</a:t>
            </a:r>
          </a:p>
          <a:p>
            <a:pPr algn="ctr">
              <a:lnSpc>
                <a:spcPts val="3090"/>
              </a:lnSpc>
            </a:pPr>
            <a:r>
              <a:rPr lang="en-US" b="true" sz="2575" spc="-51">
                <a:solidFill>
                  <a:srgbClr val="FFFFFF">
                    <a:alpha val="84706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ARRAY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017598" y="6428009"/>
            <a:ext cx="2625072" cy="644987"/>
          </a:xfrm>
          <a:custGeom>
            <a:avLst/>
            <a:gdLst/>
            <a:ahLst/>
            <a:cxnLst/>
            <a:rect r="r" b="b" t="t" l="l"/>
            <a:pathLst>
              <a:path h="644987" w="2625072">
                <a:moveTo>
                  <a:pt x="0" y="0"/>
                </a:moveTo>
                <a:lnTo>
                  <a:pt x="2625072" y="0"/>
                </a:lnTo>
                <a:lnTo>
                  <a:pt x="262507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45330" y="7707051"/>
            <a:ext cx="5457962" cy="2372241"/>
          </a:xfrm>
          <a:custGeom>
            <a:avLst/>
            <a:gdLst/>
            <a:ahLst/>
            <a:cxnLst/>
            <a:rect r="r" b="b" t="t" l="l"/>
            <a:pathLst>
              <a:path h="2372241" w="5457962">
                <a:moveTo>
                  <a:pt x="0" y="0"/>
                </a:moveTo>
                <a:lnTo>
                  <a:pt x="5457962" y="0"/>
                </a:lnTo>
                <a:lnTo>
                  <a:pt x="545796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50274" y="8334546"/>
            <a:ext cx="881198" cy="3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57" b="true">
                <a:solidFill>
                  <a:srgbClr val="252F5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Time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1291" y="8869653"/>
            <a:ext cx="2779530" cy="62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4724" spc="-94" b="true">
                <a:solidFill>
                  <a:srgbClr val="0F43D1"/>
                </a:solidFill>
                <a:latin typeface="Inter Bold"/>
                <a:ea typeface="Inter Bold"/>
                <a:cs typeface="Inter Bold"/>
                <a:sym typeface="Inter Bold"/>
              </a:rPr>
              <a:t>O(n log n)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6311110" y="7707051"/>
            <a:ext cx="5228268" cy="2372241"/>
          </a:xfrm>
          <a:custGeom>
            <a:avLst/>
            <a:gdLst/>
            <a:ahLst/>
            <a:cxnLst/>
            <a:rect r="r" b="b" t="t" l="l"/>
            <a:pathLst>
              <a:path h="2372241" w="5228268">
                <a:moveTo>
                  <a:pt x="0" y="0"/>
                </a:moveTo>
                <a:lnTo>
                  <a:pt x="5228268" y="0"/>
                </a:lnTo>
                <a:lnTo>
                  <a:pt x="522826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884367" y="8334546"/>
            <a:ext cx="2721095" cy="3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57" b="true">
                <a:solidFill>
                  <a:srgbClr val="252F5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Auxiliary Space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98981" y="8870503"/>
            <a:ext cx="1259713" cy="61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9"/>
              </a:lnSpc>
            </a:pPr>
            <a:r>
              <a:rPr lang="en-US" sz="4609" spc="-92" b="true">
                <a:solidFill>
                  <a:srgbClr val="6D37D4"/>
                </a:solidFill>
                <a:latin typeface="Inter Bold"/>
                <a:ea typeface="Inter Bold"/>
                <a:cs typeface="Inter Bold"/>
                <a:sym typeface="Inter Bold"/>
              </a:rPr>
              <a:t>O(n)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1747196" y="7707051"/>
            <a:ext cx="5895474" cy="2372241"/>
          </a:xfrm>
          <a:custGeom>
            <a:avLst/>
            <a:gdLst/>
            <a:ahLst/>
            <a:cxnLst/>
            <a:rect r="r" b="b" t="t" l="l"/>
            <a:pathLst>
              <a:path h="2372241" w="5895474">
                <a:moveTo>
                  <a:pt x="0" y="0"/>
                </a:moveTo>
                <a:lnTo>
                  <a:pt x="5895474" y="0"/>
                </a:lnTo>
                <a:lnTo>
                  <a:pt x="589547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445818" y="8274302"/>
            <a:ext cx="1109619" cy="3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6"/>
              </a:lnSpc>
            </a:pPr>
            <a:r>
              <a:rPr lang="en-US" sz="2896" spc="-57" b="true">
                <a:solidFill>
                  <a:srgbClr val="252F5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Stable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45760" y="8779288"/>
            <a:ext cx="1115445" cy="62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4724" spc="-94" b="true">
                <a:solidFill>
                  <a:srgbClr val="E6741F"/>
                </a:solidFill>
                <a:latin typeface="Inter Bold"/>
                <a:ea typeface="Inter Bold"/>
                <a:cs typeface="Inter Bold"/>
                <a:sym typeface="Inter Bold"/>
              </a:rPr>
              <a:t>Yes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21737" y="9460064"/>
            <a:ext cx="3517684" cy="252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spc="-38" b="true">
                <a:solidFill>
                  <a:srgbClr val="252F5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(when implemented correctly)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0656" y="583321"/>
            <a:ext cx="6264838" cy="109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6"/>
              </a:lnSpc>
            </a:pPr>
            <a:r>
              <a:rPr lang="en-US" sz="8286" spc="-246" b="true">
                <a:solidFill>
                  <a:srgbClr val="192D5D"/>
                </a:solidFill>
                <a:latin typeface="Inter Bold"/>
                <a:ea typeface="Inter Bold"/>
                <a:cs typeface="Inter Bold"/>
                <a:sym typeface="Inter Bold"/>
              </a:rPr>
              <a:t>Three Steps.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5214" y="1743006"/>
            <a:ext cx="8809054" cy="1093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6"/>
              </a:lnSpc>
            </a:pPr>
            <a:r>
              <a:rPr lang="en-US" sz="8286" spc="-246" b="true">
                <a:solidFill>
                  <a:srgbClr val="1853F8"/>
                </a:solidFill>
                <a:latin typeface="Inter Bold"/>
                <a:ea typeface="Inter Bold"/>
                <a:cs typeface="Inter Bold"/>
                <a:sym typeface="Inter Bold"/>
              </a:rPr>
              <a:t>One Sorted Array.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3214004"/>
            <a:ext cx="5020450" cy="4503979"/>
          </a:xfrm>
          <a:custGeom>
            <a:avLst/>
            <a:gdLst/>
            <a:ahLst/>
            <a:cxnLst/>
            <a:rect r="r" b="b" t="t" l="l"/>
            <a:pathLst>
              <a:path h="4503979" w="5020450">
                <a:moveTo>
                  <a:pt x="0" y="0"/>
                </a:moveTo>
                <a:lnTo>
                  <a:pt x="5020450" y="0"/>
                </a:lnTo>
                <a:lnTo>
                  <a:pt x="5020450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4086" y="3214004"/>
            <a:ext cx="5020450" cy="863627"/>
          </a:xfrm>
          <a:custGeom>
            <a:avLst/>
            <a:gdLst/>
            <a:ahLst/>
            <a:cxnLst/>
            <a:rect r="r" b="b" t="t" l="l"/>
            <a:pathLst>
              <a:path h="863627" w="5020450">
                <a:moveTo>
                  <a:pt x="0" y="0"/>
                </a:moveTo>
                <a:lnTo>
                  <a:pt x="5020450" y="0"/>
                </a:lnTo>
                <a:lnTo>
                  <a:pt x="5020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2842" y="3214004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22683" y="3457201"/>
            <a:ext cx="1121019" cy="42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8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DIVIDE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82842" y="4919394"/>
            <a:ext cx="4364182" cy="2590881"/>
          </a:xfrm>
          <a:custGeom>
            <a:avLst/>
            <a:gdLst/>
            <a:ahLst/>
            <a:cxnLst/>
            <a:rect r="r" b="b" t="t" l="l"/>
            <a:pathLst>
              <a:path h="2590881" w="4364182">
                <a:moveTo>
                  <a:pt x="0" y="0"/>
                </a:moveTo>
                <a:lnTo>
                  <a:pt x="4364182" y="0"/>
                </a:lnTo>
                <a:lnTo>
                  <a:pt x="4364182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529866" y="3214004"/>
            <a:ext cx="5009512" cy="4503979"/>
          </a:xfrm>
          <a:custGeom>
            <a:avLst/>
            <a:gdLst/>
            <a:ahLst/>
            <a:cxnLst/>
            <a:rect r="r" b="b" t="t" l="l"/>
            <a:pathLst>
              <a:path h="4503979" w="5009512">
                <a:moveTo>
                  <a:pt x="0" y="0"/>
                </a:moveTo>
                <a:lnTo>
                  <a:pt x="5009512" y="0"/>
                </a:lnTo>
                <a:lnTo>
                  <a:pt x="5009512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529866" y="3214004"/>
            <a:ext cx="5009512" cy="863627"/>
          </a:xfrm>
          <a:custGeom>
            <a:avLst/>
            <a:gdLst/>
            <a:ahLst/>
            <a:cxnLst/>
            <a:rect r="r" b="b" t="t" l="l"/>
            <a:pathLst>
              <a:path h="863627" w="5009512">
                <a:moveTo>
                  <a:pt x="0" y="0"/>
                </a:moveTo>
                <a:lnTo>
                  <a:pt x="5009512" y="0"/>
                </a:lnTo>
                <a:lnTo>
                  <a:pt x="500951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48622" y="3214004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867257" y="3457201"/>
            <a:ext cx="1701415" cy="42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8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CONQUER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81152" y="4264951"/>
            <a:ext cx="3226228" cy="57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 b="true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Recursively sort until</a:t>
            </a:r>
          </a:p>
          <a:p>
            <a:pPr algn="l">
              <a:lnSpc>
                <a:spcPts val="2383"/>
              </a:lnSpc>
            </a:pPr>
            <a:r>
              <a:rPr lang="en-US" sz="1986" spc="-59" b="true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subarrays have one element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956440" y="5138034"/>
            <a:ext cx="4156364" cy="2372241"/>
          </a:xfrm>
          <a:custGeom>
            <a:avLst/>
            <a:gdLst/>
            <a:ahLst/>
            <a:cxnLst/>
            <a:rect r="r" b="b" t="t" l="l"/>
            <a:pathLst>
              <a:path h="2372241" w="4156364">
                <a:moveTo>
                  <a:pt x="0" y="0"/>
                </a:moveTo>
                <a:lnTo>
                  <a:pt x="4156364" y="0"/>
                </a:lnTo>
                <a:lnTo>
                  <a:pt x="415636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184708" y="3214004"/>
            <a:ext cx="5020450" cy="4503979"/>
          </a:xfrm>
          <a:custGeom>
            <a:avLst/>
            <a:gdLst/>
            <a:ahLst/>
            <a:cxnLst/>
            <a:rect r="r" b="b" t="t" l="l"/>
            <a:pathLst>
              <a:path h="4503979" w="5020450">
                <a:moveTo>
                  <a:pt x="0" y="0"/>
                </a:moveTo>
                <a:lnTo>
                  <a:pt x="5020450" y="0"/>
                </a:lnTo>
                <a:lnTo>
                  <a:pt x="5020450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184708" y="3214004"/>
            <a:ext cx="5020450" cy="863627"/>
          </a:xfrm>
          <a:custGeom>
            <a:avLst/>
            <a:gdLst/>
            <a:ahLst/>
            <a:cxnLst/>
            <a:rect r="r" b="b" t="t" l="l"/>
            <a:pathLst>
              <a:path h="863627" w="5020450">
                <a:moveTo>
                  <a:pt x="0" y="0"/>
                </a:moveTo>
                <a:lnTo>
                  <a:pt x="5020450" y="0"/>
                </a:lnTo>
                <a:lnTo>
                  <a:pt x="5020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622220" y="3214004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817740" y="3457201"/>
            <a:ext cx="258293" cy="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b="true" sz="3102" spc="-92">
                <a:solidFill>
                  <a:srgbClr val="EB7728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09010" y="3457201"/>
            <a:ext cx="1226225" cy="420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b="true" sz="2759" spc="-8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MERGE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87294" y="4264951"/>
            <a:ext cx="3219056" cy="57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59" b="true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Compare first elements and choose smaller until merged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840976" y="5138034"/>
            <a:ext cx="3707914" cy="2372241"/>
          </a:xfrm>
          <a:custGeom>
            <a:avLst/>
            <a:gdLst/>
            <a:ahLst/>
            <a:cxnLst/>
            <a:rect r="r" b="b" t="t" l="l"/>
            <a:pathLst>
              <a:path h="2372241" w="3707914">
                <a:moveTo>
                  <a:pt x="0" y="0"/>
                </a:moveTo>
                <a:lnTo>
                  <a:pt x="3707914" y="0"/>
                </a:lnTo>
                <a:lnTo>
                  <a:pt x="370791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64086" y="7925691"/>
            <a:ext cx="16341072" cy="1934962"/>
          </a:xfrm>
          <a:custGeom>
            <a:avLst/>
            <a:gdLst/>
            <a:ahLst/>
            <a:cxnLst/>
            <a:rect r="r" b="b" t="t" l="l"/>
            <a:pathLst>
              <a:path h="1934962" w="16341072">
                <a:moveTo>
                  <a:pt x="0" y="0"/>
                </a:moveTo>
                <a:lnTo>
                  <a:pt x="16341072" y="0"/>
                </a:lnTo>
                <a:lnTo>
                  <a:pt x="1634107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62252" y="8376560"/>
            <a:ext cx="1114688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68" b="true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Merging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01598" y="8778386"/>
            <a:ext cx="3489158" cy="655919"/>
          </a:xfrm>
          <a:custGeom>
            <a:avLst/>
            <a:gdLst/>
            <a:ahLst/>
            <a:cxnLst/>
            <a:rect r="r" b="b" t="t" l="l"/>
            <a:pathLst>
              <a:path h="655919" w="3489158">
                <a:moveTo>
                  <a:pt x="0" y="0"/>
                </a:moveTo>
                <a:lnTo>
                  <a:pt x="3489158" y="0"/>
                </a:lnTo>
                <a:lnTo>
                  <a:pt x="348915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610888" y="8978994"/>
            <a:ext cx="321345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b="true" sz="2311" spc="-6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12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4998574" y="8133399"/>
            <a:ext cx="229694" cy="1519546"/>
          </a:xfrm>
          <a:custGeom>
            <a:avLst/>
            <a:gdLst/>
            <a:ahLst/>
            <a:cxnLst/>
            <a:rect r="r" b="b" t="t" l="l"/>
            <a:pathLst>
              <a:path h="1519546" w="229694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072361" y="8978994"/>
            <a:ext cx="722600" cy="57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b="true" sz="1986" spc="-59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9 &lt; 12</a:t>
            </a:r>
          </a:p>
          <a:p>
            <a:pPr algn="ctr">
              <a:lnSpc>
                <a:spcPts val="2383"/>
              </a:lnSpc>
            </a:pPr>
            <a:r>
              <a:rPr lang="en-US" b="true" sz="1986" spc="-59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take 9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7393952" y="8352038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607034" y="8276670"/>
            <a:ext cx="962846" cy="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b="true" sz="3102" spc="-92">
                <a:solidFill>
                  <a:srgbClr val="EB7728"/>
                </a:solidFill>
                <a:latin typeface="Inter Bold"/>
                <a:ea typeface="Inter Bold"/>
                <a:cs typeface="Inter Bold"/>
                <a:sym typeface="Inter Bold"/>
              </a:rPr>
              <a:t>9   12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01200" y="8978994"/>
            <a:ext cx="862000" cy="57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b="true" sz="1986" spc="-59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12 &lt; 27</a:t>
            </a:r>
          </a:p>
          <a:p>
            <a:pPr algn="ctr">
              <a:lnSpc>
                <a:spcPts val="2383"/>
              </a:lnSpc>
            </a:pPr>
            <a:r>
              <a:rPr lang="en-US" b="true" sz="1986" spc="-59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take 12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0008086" y="8352038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214662" y="8276670"/>
            <a:ext cx="1659937" cy="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b="true" sz="3102" spc="-92">
                <a:solidFill>
                  <a:srgbClr val="EB7728"/>
                </a:solidFill>
                <a:latin typeface="Inter Bold"/>
                <a:ea typeface="Inter Bold"/>
                <a:cs typeface="Inter Bold"/>
                <a:sym typeface="Inter Bold"/>
              </a:rPr>
              <a:t>9   12  27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88987" y="8978994"/>
            <a:ext cx="911287" cy="57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b="true" sz="1986" spc="-59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27 &lt; 38</a:t>
            </a:r>
          </a:p>
          <a:p>
            <a:pPr algn="ctr">
              <a:lnSpc>
                <a:spcPts val="2383"/>
              </a:lnSpc>
            </a:pPr>
            <a:r>
              <a:rPr lang="en-US" b="true" sz="1986" spc="-59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take 27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497244" y="8352038"/>
            <a:ext cx="437512" cy="437279"/>
          </a:xfrm>
          <a:custGeom>
            <a:avLst/>
            <a:gdLst/>
            <a:ahLst/>
            <a:cxnLst/>
            <a:rect r="r" b="b" t="t" l="l"/>
            <a:pathLst>
              <a:path h="437279" w="437512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412184" y="8276670"/>
            <a:ext cx="2357029" cy="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b="true" sz="3102" spc="-92">
                <a:solidFill>
                  <a:srgbClr val="EB7728"/>
                </a:solidFill>
                <a:latin typeface="Inter Bold"/>
                <a:ea typeface="Inter Bold"/>
                <a:cs typeface="Inter Bold"/>
                <a:sym typeface="Inter Bold"/>
              </a:rPr>
              <a:t>9   12  27  38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730994" y="8978994"/>
            <a:ext cx="1703871" cy="571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b="true" sz="1986" spc="-59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take remaining</a:t>
            </a:r>
          </a:p>
          <a:p>
            <a:pPr algn="ctr">
              <a:lnSpc>
                <a:spcPts val="2383"/>
              </a:lnSpc>
            </a:pPr>
            <a:r>
              <a:rPr lang="en-US" b="true" sz="1986" spc="-59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38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5654842" y="4919394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528440" y="491939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384681" y="4255426"/>
            <a:ext cx="3513948" cy="277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55" b="true">
                <a:solidFill>
                  <a:srgbClr val="192D5D"/>
                </a:solidFill>
                <a:latin typeface="Inter Medium"/>
                <a:ea typeface="Inter Medium"/>
                <a:cs typeface="Inter Medium"/>
                <a:sym typeface="Inter Medium"/>
              </a:rPr>
              <a:t>Split array repeatedly into halves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196372" y="8978994"/>
            <a:ext cx="38267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b="true" sz="2311" spc="-6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38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256830" y="8276670"/>
            <a:ext cx="258293" cy="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b="true" sz="3102" spc="-92">
                <a:solidFill>
                  <a:srgbClr val="EB7728"/>
                </a:solidFill>
                <a:latin typeface="Inter Bold"/>
                <a:ea typeface="Inter Bold"/>
                <a:cs typeface="Inter Bold"/>
                <a:sym typeface="Inter Bold"/>
              </a:rPr>
              <a:t>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125185" y="8978994"/>
            <a:ext cx="38267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b="true" sz="2311" spc="-6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27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73783" y="3457201"/>
            <a:ext cx="175502" cy="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b="true" sz="3102" spc="-92">
                <a:solidFill>
                  <a:srgbClr val="12B0DD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111669" y="3457201"/>
            <a:ext cx="258293" cy="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3"/>
              </a:lnSpc>
            </a:pPr>
            <a:r>
              <a:rPr lang="en-US" b="true" sz="3102" spc="-92">
                <a:solidFill>
                  <a:srgbClr val="7247D1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658283" y="8978994"/>
            <a:ext cx="191337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b="true" sz="2311" spc="-6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9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7717" y="562487"/>
            <a:ext cx="8806410" cy="10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spc="-245" b="true">
                <a:solidFill>
                  <a:srgbClr val="14284F"/>
                </a:solidFill>
                <a:latin typeface="Inter Bold"/>
                <a:ea typeface="Inter Bold"/>
                <a:cs typeface="Inter Bold"/>
                <a:sym typeface="Inter Bold"/>
              </a:rPr>
              <a:t>Watch 7 Numbers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3390" y="1616746"/>
            <a:ext cx="5239118" cy="10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spc="-245" b="true">
                <a:solidFill>
                  <a:srgbClr val="0645C2"/>
                </a:solidFill>
                <a:latin typeface="Inter Bold"/>
                <a:ea typeface="Inter Bold"/>
                <a:cs typeface="Inter Bold"/>
                <a:sym typeface="Inter Bold"/>
              </a:rPr>
              <a:t>Get Sorted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776725"/>
            <a:ext cx="7853340" cy="874559"/>
          </a:xfrm>
          <a:custGeom>
            <a:avLst/>
            <a:gdLst/>
            <a:ahLst/>
            <a:cxnLst/>
            <a:rect r="r" b="b" t="t" l="l"/>
            <a:pathLst>
              <a:path h="874559" w="7853340">
                <a:moveTo>
                  <a:pt x="0" y="0"/>
                </a:moveTo>
                <a:lnTo>
                  <a:pt x="7853340" y="0"/>
                </a:lnTo>
                <a:lnTo>
                  <a:pt x="785334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21656" y="3126786"/>
            <a:ext cx="4795242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DIVIDE (break down)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76622" y="3640352"/>
            <a:ext cx="4145426" cy="1082267"/>
          </a:xfrm>
          <a:custGeom>
            <a:avLst/>
            <a:gdLst/>
            <a:ahLst/>
            <a:cxnLst/>
            <a:rect r="r" b="b" t="t" l="l"/>
            <a:pathLst>
              <a:path h="1082267" w="4145426">
                <a:moveTo>
                  <a:pt x="0" y="0"/>
                </a:moveTo>
                <a:lnTo>
                  <a:pt x="4145426" y="0"/>
                </a:lnTo>
                <a:lnTo>
                  <a:pt x="414542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19786" y="4032514"/>
            <a:ext cx="3503078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7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[38, 12, 27, 43, 9, 31, 18]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134488" y="3421712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2842" y="5138034"/>
            <a:ext cx="1968804" cy="863627"/>
          </a:xfrm>
          <a:custGeom>
            <a:avLst/>
            <a:gdLst/>
            <a:ahLst/>
            <a:cxnLst/>
            <a:rect r="r" b="b" t="t" l="l"/>
            <a:pathLst>
              <a:path h="863627" w="1968804">
                <a:moveTo>
                  <a:pt x="0" y="0"/>
                </a:moveTo>
                <a:lnTo>
                  <a:pt x="1968804" y="0"/>
                </a:lnTo>
                <a:lnTo>
                  <a:pt x="196880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64086" y="4493047"/>
            <a:ext cx="3500096" cy="2153601"/>
          </a:xfrm>
          <a:custGeom>
            <a:avLst/>
            <a:gdLst/>
            <a:ahLst/>
            <a:cxnLst/>
            <a:rect r="r" b="b" t="t" l="l"/>
            <a:pathLst>
              <a:path h="2153601" w="3500096">
                <a:moveTo>
                  <a:pt x="0" y="0"/>
                </a:moveTo>
                <a:lnTo>
                  <a:pt x="3500096" y="0"/>
                </a:lnTo>
                <a:lnTo>
                  <a:pt x="350009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17330" y="5138034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34488" y="4493047"/>
            <a:ext cx="2187560" cy="874559"/>
          </a:xfrm>
          <a:custGeom>
            <a:avLst/>
            <a:gdLst/>
            <a:ahLst/>
            <a:cxnLst/>
            <a:rect r="r" b="b" t="t" l="l"/>
            <a:pathLst>
              <a:path h="874559" w="2187560">
                <a:moveTo>
                  <a:pt x="0" y="0"/>
                </a:moveTo>
                <a:lnTo>
                  <a:pt x="2187560" y="0"/>
                </a:lnTo>
                <a:lnTo>
                  <a:pt x="218756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5330" y="6428009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64086" y="706206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5330" y="7925691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176622" y="6428009"/>
            <a:ext cx="1312536" cy="863627"/>
          </a:xfrm>
          <a:custGeom>
            <a:avLst/>
            <a:gdLst/>
            <a:ahLst/>
            <a:cxnLst/>
            <a:rect r="r" b="b" t="t" l="l"/>
            <a:pathLst>
              <a:path h="863627" w="1312536">
                <a:moveTo>
                  <a:pt x="0" y="0"/>
                </a:moveTo>
                <a:lnTo>
                  <a:pt x="1312536" y="0"/>
                </a:lnTo>
                <a:lnTo>
                  <a:pt x="131253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176622" y="7062064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957866" y="7925691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2821952" y="7925691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572000" y="6428009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572000" y="7062064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134488" y="7925691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5217330" y="7925691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748622" y="6428009"/>
            <a:ext cx="1312536" cy="863627"/>
          </a:xfrm>
          <a:custGeom>
            <a:avLst/>
            <a:gdLst/>
            <a:ahLst/>
            <a:cxnLst/>
            <a:rect r="r" b="b" t="t" l="l"/>
            <a:pathLst>
              <a:path h="863627" w="1312536">
                <a:moveTo>
                  <a:pt x="0" y="0"/>
                </a:moveTo>
                <a:lnTo>
                  <a:pt x="1312536" y="0"/>
                </a:lnTo>
                <a:lnTo>
                  <a:pt x="131253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748622" y="7062064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529866" y="7925691"/>
            <a:ext cx="656268" cy="863627"/>
          </a:xfrm>
          <a:custGeom>
            <a:avLst/>
            <a:gdLst/>
            <a:ahLst/>
            <a:cxnLst/>
            <a:rect r="r" b="b" t="t" l="l"/>
            <a:pathLst>
              <a:path h="863627" w="656268">
                <a:moveTo>
                  <a:pt x="0" y="0"/>
                </a:moveTo>
                <a:lnTo>
                  <a:pt x="656268" y="0"/>
                </a:lnTo>
                <a:lnTo>
                  <a:pt x="656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7393952" y="7925691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706488" y="2776725"/>
            <a:ext cx="9154938" cy="874559"/>
          </a:xfrm>
          <a:custGeom>
            <a:avLst/>
            <a:gdLst/>
            <a:ahLst/>
            <a:cxnLst/>
            <a:rect r="r" b="b" t="t" l="l"/>
            <a:pathLst>
              <a:path h="874559" w="9154938">
                <a:moveTo>
                  <a:pt x="0" y="0"/>
                </a:moveTo>
                <a:lnTo>
                  <a:pt x="9154938" y="0"/>
                </a:lnTo>
                <a:lnTo>
                  <a:pt x="915493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903148" y="3126786"/>
            <a:ext cx="4795242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MERGE (combine in order)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8706488" y="3848060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008086" y="3848060"/>
            <a:ext cx="885962" cy="874559"/>
          </a:xfrm>
          <a:custGeom>
            <a:avLst/>
            <a:gdLst/>
            <a:ahLst/>
            <a:cxnLst/>
            <a:rect r="r" b="b" t="t" l="l"/>
            <a:pathLst>
              <a:path h="874559" w="885962">
                <a:moveTo>
                  <a:pt x="0" y="0"/>
                </a:moveTo>
                <a:lnTo>
                  <a:pt x="885962" y="0"/>
                </a:lnTo>
                <a:lnTo>
                  <a:pt x="885962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528440" y="3848060"/>
            <a:ext cx="1542230" cy="874559"/>
          </a:xfrm>
          <a:custGeom>
            <a:avLst/>
            <a:gdLst/>
            <a:ahLst/>
            <a:cxnLst/>
            <a:rect r="r" b="b" t="t" l="l"/>
            <a:pathLst>
              <a:path h="874559" w="1542230">
                <a:moveTo>
                  <a:pt x="0" y="0"/>
                </a:moveTo>
                <a:lnTo>
                  <a:pt x="1542230" y="0"/>
                </a:lnTo>
                <a:lnTo>
                  <a:pt x="1542230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528440" y="4493047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716000" y="3848060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4798842" y="3848060"/>
            <a:ext cx="1104718" cy="874559"/>
          </a:xfrm>
          <a:custGeom>
            <a:avLst/>
            <a:gdLst/>
            <a:ahLst/>
            <a:cxnLst/>
            <a:rect r="r" b="b" t="t" l="l"/>
            <a:pathLst>
              <a:path h="874559" w="1104718">
                <a:moveTo>
                  <a:pt x="0" y="0"/>
                </a:moveTo>
                <a:lnTo>
                  <a:pt x="1104718" y="0"/>
                </a:lnTo>
                <a:lnTo>
                  <a:pt x="110471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319196" y="3848060"/>
            <a:ext cx="1323474" cy="874559"/>
          </a:xfrm>
          <a:custGeom>
            <a:avLst/>
            <a:gdLst/>
            <a:ahLst/>
            <a:cxnLst/>
            <a:rect r="r" b="b" t="t" l="l"/>
            <a:pathLst>
              <a:path h="874559" w="1323474">
                <a:moveTo>
                  <a:pt x="0" y="0"/>
                </a:moveTo>
                <a:lnTo>
                  <a:pt x="1323474" y="0"/>
                </a:lnTo>
                <a:lnTo>
                  <a:pt x="132347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6319196" y="4493047"/>
            <a:ext cx="667206" cy="1082267"/>
          </a:xfrm>
          <a:custGeom>
            <a:avLst/>
            <a:gdLst/>
            <a:ahLst/>
            <a:cxnLst/>
            <a:rect r="r" b="b" t="t" l="l"/>
            <a:pathLst>
              <a:path h="1082267" w="667206">
                <a:moveTo>
                  <a:pt x="0" y="0"/>
                </a:moveTo>
                <a:lnTo>
                  <a:pt x="667206" y="0"/>
                </a:lnTo>
                <a:lnTo>
                  <a:pt x="66720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706488" y="5356674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789330" y="5356674"/>
            <a:ext cx="1323474" cy="863627"/>
          </a:xfrm>
          <a:custGeom>
            <a:avLst/>
            <a:gdLst/>
            <a:ahLst/>
            <a:cxnLst/>
            <a:rect r="r" b="b" t="t" l="l"/>
            <a:pathLst>
              <a:path h="863627" w="1323474">
                <a:moveTo>
                  <a:pt x="0" y="0"/>
                </a:moveTo>
                <a:lnTo>
                  <a:pt x="1323474" y="0"/>
                </a:lnTo>
                <a:lnTo>
                  <a:pt x="132347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320622" y="5356674"/>
            <a:ext cx="1968804" cy="863627"/>
          </a:xfrm>
          <a:custGeom>
            <a:avLst/>
            <a:gdLst/>
            <a:ahLst/>
            <a:cxnLst/>
            <a:rect r="r" b="b" t="t" l="l"/>
            <a:pathLst>
              <a:path h="863627" w="1968804">
                <a:moveTo>
                  <a:pt x="0" y="0"/>
                </a:moveTo>
                <a:lnTo>
                  <a:pt x="1968804" y="0"/>
                </a:lnTo>
                <a:lnTo>
                  <a:pt x="196880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0664354" y="5990729"/>
            <a:ext cx="875024" cy="1082267"/>
          </a:xfrm>
          <a:custGeom>
            <a:avLst/>
            <a:gdLst/>
            <a:ahLst/>
            <a:cxnLst/>
            <a:rect r="r" b="b" t="t" l="l"/>
            <a:pathLst>
              <a:path h="1082267" w="875024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3716000" y="5356674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798842" y="5356674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6319196" y="5356674"/>
            <a:ext cx="1323474" cy="863627"/>
          </a:xfrm>
          <a:custGeom>
            <a:avLst/>
            <a:gdLst/>
            <a:ahLst/>
            <a:cxnLst/>
            <a:rect r="r" b="b" t="t" l="l"/>
            <a:pathLst>
              <a:path h="863627" w="1323474">
                <a:moveTo>
                  <a:pt x="0" y="0"/>
                </a:moveTo>
                <a:lnTo>
                  <a:pt x="1323474" y="0"/>
                </a:lnTo>
                <a:lnTo>
                  <a:pt x="132347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5017598" y="5990729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4798842" y="6854356"/>
            <a:ext cx="2187560" cy="655919"/>
          </a:xfrm>
          <a:custGeom>
            <a:avLst/>
            <a:gdLst/>
            <a:ahLst/>
            <a:cxnLst/>
            <a:rect r="r" b="b" t="t" l="l"/>
            <a:pathLst>
              <a:path h="655919" w="2187560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4798842" y="7280704"/>
            <a:ext cx="1104718" cy="863627"/>
          </a:xfrm>
          <a:custGeom>
            <a:avLst/>
            <a:gdLst/>
            <a:ahLst/>
            <a:cxnLst/>
            <a:rect r="r" b="b" t="t" l="l"/>
            <a:pathLst>
              <a:path h="863627" w="1104718">
                <a:moveTo>
                  <a:pt x="0" y="0"/>
                </a:moveTo>
                <a:lnTo>
                  <a:pt x="1104718" y="0"/>
                </a:lnTo>
                <a:lnTo>
                  <a:pt x="110471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0664354" y="6854356"/>
            <a:ext cx="1312536" cy="655919"/>
          </a:xfrm>
          <a:custGeom>
            <a:avLst/>
            <a:gdLst/>
            <a:ahLst/>
            <a:cxnLst/>
            <a:rect r="r" b="b" t="t" l="l"/>
            <a:pathLst>
              <a:path h="655919" w="1312536">
                <a:moveTo>
                  <a:pt x="0" y="0"/>
                </a:moveTo>
                <a:lnTo>
                  <a:pt x="1312536" y="0"/>
                </a:lnTo>
                <a:lnTo>
                  <a:pt x="131253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2622220" y="6854356"/>
            <a:ext cx="1531292" cy="655919"/>
          </a:xfrm>
          <a:custGeom>
            <a:avLst/>
            <a:gdLst/>
            <a:ahLst/>
            <a:cxnLst/>
            <a:rect r="r" b="b" t="t" l="l"/>
            <a:pathLst>
              <a:path h="655919" w="1531292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351818" y="7925691"/>
            <a:ext cx="3062584" cy="863627"/>
          </a:xfrm>
          <a:custGeom>
            <a:avLst/>
            <a:gdLst/>
            <a:ahLst/>
            <a:cxnLst/>
            <a:rect r="r" b="b" t="t" l="l"/>
            <a:pathLst>
              <a:path h="863627" w="3062584">
                <a:moveTo>
                  <a:pt x="0" y="0"/>
                </a:moveTo>
                <a:lnTo>
                  <a:pt x="3062584" y="0"/>
                </a:lnTo>
                <a:lnTo>
                  <a:pt x="306258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9692313" y="8235211"/>
            <a:ext cx="769858" cy="23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7"/>
              </a:lnSpc>
            </a:pPr>
            <a:r>
              <a:rPr lang="en-US" sz="1757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[51, 11]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0664354" y="8570678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3278488" y="7925691"/>
            <a:ext cx="3270402" cy="863627"/>
          </a:xfrm>
          <a:custGeom>
            <a:avLst/>
            <a:gdLst/>
            <a:ahLst/>
            <a:cxnLst/>
            <a:rect r="r" b="b" t="t" l="l"/>
            <a:pathLst>
              <a:path h="863627" w="3270402">
                <a:moveTo>
                  <a:pt x="0" y="0"/>
                </a:moveTo>
                <a:lnTo>
                  <a:pt x="3270402" y="0"/>
                </a:lnTo>
                <a:lnTo>
                  <a:pt x="327040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4020050" y="8225186"/>
            <a:ext cx="1741894" cy="2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2047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[9, 18, 31, 43]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12622220" y="8570678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4798842" y="8570678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8706488" y="8997026"/>
            <a:ext cx="8717426" cy="863627"/>
          </a:xfrm>
          <a:custGeom>
            <a:avLst/>
            <a:gdLst/>
            <a:ahLst/>
            <a:cxnLst/>
            <a:rect r="r" b="b" t="t" l="l"/>
            <a:pathLst>
              <a:path h="863627" w="8717426">
                <a:moveTo>
                  <a:pt x="0" y="0"/>
                </a:moveTo>
                <a:lnTo>
                  <a:pt x="8717426" y="0"/>
                </a:lnTo>
                <a:lnTo>
                  <a:pt x="871742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9899273" y="9176294"/>
            <a:ext cx="6347579" cy="547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sz="4170" b="true">
                <a:solidFill>
                  <a:srgbClr val="F0F8F8"/>
                </a:solidFill>
                <a:latin typeface="Inter Bold"/>
                <a:ea typeface="Inter Bold"/>
                <a:cs typeface="Inter Bold"/>
                <a:sym typeface="Inter Bold"/>
              </a:rPr>
              <a:t>[9, 12, 18, 27, 31, 38, 43]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956352" y="4135862"/>
            <a:ext cx="2544961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[12]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135070" y="4135862"/>
            <a:ext cx="2544961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[27]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903148" y="4135862"/>
            <a:ext cx="2866430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[12, 27]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965906" y="4135862"/>
            <a:ext cx="2544961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[31]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144625" y="4135862"/>
            <a:ext cx="2544961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[18]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5644812" y="4135862"/>
            <a:ext cx="2866430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[18, 31]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35781" y="5446155"/>
            <a:ext cx="3080742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[38, 12, 27]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634508" y="5446155"/>
            <a:ext cx="3455789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[43, 9, 31, 18]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956352" y="5687129"/>
            <a:ext cx="2544961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[38]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135070" y="5687129"/>
            <a:ext cx="2544961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[12, 27]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903148" y="5687129"/>
            <a:ext cx="2866430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[12, 27, 38]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965906" y="5687129"/>
            <a:ext cx="2544961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[43]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144625" y="5687129"/>
            <a:ext cx="2544961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[9]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644812" y="5687129"/>
            <a:ext cx="2866430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65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[9, 43]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92088" y="6803761"/>
            <a:ext cx="490370" cy="23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sz="1810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[38]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441322" y="6803761"/>
            <a:ext cx="859323" cy="23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sz="1810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[12, 27]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726992" y="6794167"/>
            <a:ext cx="788546" cy="25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3"/>
              </a:lnSpc>
            </a:pPr>
            <a:r>
              <a:rPr lang="en-US" sz="1863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[43, 9]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956776" y="6803761"/>
            <a:ext cx="829541" cy="23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sz="1810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[31, 18]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840847" y="7065502"/>
            <a:ext cx="872348" cy="2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2047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[9, 43]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876362" y="7075808"/>
            <a:ext cx="917699" cy="262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6"/>
              </a:lnSpc>
            </a:pPr>
            <a:r>
              <a:rPr lang="en-US" sz="1986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[18, 31]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984456" y="7065502"/>
            <a:ext cx="1741894" cy="273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2047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[9, 18, 31, 43]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92088" y="8294785"/>
            <a:ext cx="490370" cy="23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sz="1810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[38]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2160538" y="8295454"/>
            <a:ext cx="432374" cy="23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7"/>
              </a:lnSpc>
            </a:pPr>
            <a:r>
              <a:rPr lang="en-US" sz="1757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[12]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2998738" y="8294785"/>
            <a:ext cx="470475" cy="23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sz="1810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[27]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4378265" y="8294785"/>
            <a:ext cx="497484" cy="23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sz="1810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[43]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397329" y="8294785"/>
            <a:ext cx="334590" cy="23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sz="1810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[9]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6632322" y="8295454"/>
            <a:ext cx="436353" cy="23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7"/>
              </a:lnSpc>
            </a:pPr>
            <a:r>
              <a:rPr lang="en-US" sz="1757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[31]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7650126" y="8295454"/>
            <a:ext cx="436715" cy="23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7"/>
              </a:lnSpc>
            </a:pPr>
            <a:r>
              <a:rPr lang="en-US" sz="1757" b="true">
                <a:solidFill>
                  <a:srgbClr val="F0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[18]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256" y="433870"/>
            <a:ext cx="8673607" cy="225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7"/>
              </a:lnSpc>
            </a:pPr>
            <a:r>
              <a:rPr lang="en-US" sz="8380" spc="-208" b="true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The Logic Behind </a:t>
            </a:r>
            <a:r>
              <a:rPr lang="en-US" sz="8380" spc="-208" b="true">
                <a:solidFill>
                  <a:srgbClr val="1966F8"/>
                </a:solidFill>
                <a:latin typeface="Inter Bold"/>
                <a:ea typeface="Inter Bold"/>
                <a:cs typeface="Inter Bold"/>
                <a:sym typeface="Inter Bold"/>
              </a:rPr>
              <a:t>Merge Sort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776725"/>
            <a:ext cx="8072096" cy="7083928"/>
          </a:xfrm>
          <a:custGeom>
            <a:avLst/>
            <a:gdLst/>
            <a:ahLst/>
            <a:cxnLst/>
            <a:rect r="r" b="b" t="t" l="l"/>
            <a:pathLst>
              <a:path h="7083928" w="8072096">
                <a:moveTo>
                  <a:pt x="0" y="0"/>
                </a:moveTo>
                <a:lnTo>
                  <a:pt x="8072096" y="0"/>
                </a:lnTo>
                <a:lnTo>
                  <a:pt x="8072096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3214004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3375" y="4125973"/>
            <a:ext cx="387538" cy="462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2"/>
              </a:lnSpc>
            </a:pPr>
            <a:r>
              <a:rPr lang="en-US" sz="2285" spc="-45" b="true">
                <a:solidFill>
                  <a:srgbClr val="505F79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  <a:p>
            <a:pPr algn="l">
              <a:lnSpc>
                <a:spcPts val="4112"/>
              </a:lnSpc>
            </a:pPr>
            <a:r>
              <a:rPr lang="en-US" sz="2285" spc="-45" b="true">
                <a:solidFill>
                  <a:srgbClr val="505F79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  <a:p>
            <a:pPr algn="l">
              <a:lnSpc>
                <a:spcPts val="4112"/>
              </a:lnSpc>
            </a:pPr>
            <a:r>
              <a:rPr lang="en-US" sz="2285" spc="-45" b="true">
                <a:solidFill>
                  <a:srgbClr val="505F79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  <a:p>
            <a:pPr algn="l">
              <a:lnSpc>
                <a:spcPts val="4112"/>
              </a:lnSpc>
            </a:pPr>
            <a:r>
              <a:rPr lang="en-US" sz="2285" spc="-45" b="true">
                <a:solidFill>
                  <a:srgbClr val="505F79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  <a:p>
            <a:pPr algn="l">
              <a:lnSpc>
                <a:spcPts val="4112"/>
              </a:lnSpc>
            </a:pPr>
            <a:r>
              <a:rPr lang="en-US" sz="2285" spc="-45" b="true">
                <a:solidFill>
                  <a:srgbClr val="505F79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  <a:p>
            <a:pPr algn="l">
              <a:lnSpc>
                <a:spcPts val="4112"/>
              </a:lnSpc>
            </a:pPr>
            <a:r>
              <a:rPr lang="en-US" sz="2285" spc="-45" b="true">
                <a:solidFill>
                  <a:srgbClr val="505F79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  <a:p>
            <a:pPr algn="l">
              <a:lnSpc>
                <a:spcPts val="4112"/>
              </a:lnSpc>
            </a:pPr>
            <a:r>
              <a:rPr lang="en-US" sz="2285" spc="-45" b="true">
                <a:solidFill>
                  <a:srgbClr val="505F79"/>
                </a:solidFill>
                <a:latin typeface="Inter Bold"/>
                <a:ea typeface="Inter Bold"/>
                <a:cs typeface="Inter Bold"/>
                <a:sym typeface="Inter Bold"/>
              </a:rPr>
              <a:t>07</a:t>
            </a:r>
          </a:p>
          <a:p>
            <a:pPr algn="l">
              <a:lnSpc>
                <a:spcPts val="4112"/>
              </a:lnSpc>
            </a:pPr>
            <a:r>
              <a:rPr lang="en-US" sz="2285" spc="-45" b="true">
                <a:solidFill>
                  <a:srgbClr val="505F79"/>
                </a:solidFill>
                <a:latin typeface="Inter Bold"/>
                <a:ea typeface="Inter Bold"/>
                <a:cs typeface="Inter Bold"/>
                <a:sym typeface="Inter Bold"/>
              </a:rPr>
              <a:t>08</a:t>
            </a:r>
          </a:p>
          <a:p>
            <a:pPr algn="l">
              <a:lnSpc>
                <a:spcPts val="4112"/>
              </a:lnSpc>
            </a:pPr>
            <a:r>
              <a:rPr lang="en-US" sz="2285" spc="-45" b="true">
                <a:solidFill>
                  <a:srgbClr val="505F79"/>
                </a:solidFill>
                <a:latin typeface="Inter Bold"/>
                <a:ea typeface="Inter Bold"/>
                <a:cs typeface="Inter Bold"/>
                <a:sym typeface="Inter Bold"/>
              </a:rPr>
              <a:t>09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2480" y="3886516"/>
            <a:ext cx="4844230" cy="5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sz="2575" spc="-51" b="true">
                <a:solidFill>
                  <a:srgbClr val="19C9E4"/>
                </a:solidFill>
                <a:latin typeface="Inter Bold"/>
                <a:ea typeface="Inter Bold"/>
                <a:cs typeface="Inter Bold"/>
                <a:sym typeface="Inter Bold"/>
              </a:rPr>
              <a:t>MERGEsort(A, left, right)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44231" y="4458828"/>
            <a:ext cx="3100308" cy="5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sz="2575" spc="-51" b="true">
                <a:solidFill>
                  <a:srgbClr val="8052D1"/>
                </a:solidFill>
                <a:latin typeface="Inter Bold"/>
                <a:ea typeface="Inter Bold"/>
                <a:cs typeface="Inter Bold"/>
                <a:sym typeface="Inter Bold"/>
              </a:rPr>
              <a:t>if </a:t>
            </a:r>
            <a:r>
              <a:rPr lang="en-US" sz="2575" spc="-51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left &lt; right: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91360" y="5083750"/>
            <a:ext cx="5892095" cy="51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2487" spc="-49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mid = </a:t>
            </a:r>
            <a:r>
              <a:rPr lang="en-US" sz="2487" spc="-49" b="true">
                <a:solidFill>
                  <a:srgbClr val="E18B1B"/>
                </a:solidFill>
                <a:latin typeface="Inter Bold"/>
                <a:ea typeface="Inter Bold"/>
                <a:cs typeface="Inter Bold"/>
                <a:sym typeface="Inter Bold"/>
              </a:rPr>
              <a:t>floor</a:t>
            </a:r>
            <a:r>
              <a:rPr lang="en-US" sz="2487" spc="-49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((left </a:t>
            </a:r>
            <a:r>
              <a:rPr lang="en-US" sz="2487" spc="-49" b="true">
                <a:solidFill>
                  <a:srgbClr val="E18B1B"/>
                </a:solidFill>
                <a:latin typeface="Inter Bold"/>
                <a:ea typeface="Inter Bold"/>
                <a:cs typeface="Inter Bold"/>
                <a:sym typeface="Inter Bold"/>
              </a:rPr>
              <a:t>+</a:t>
            </a:r>
            <a:r>
              <a:rPr lang="en-US" sz="2487" spc="-49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 right) </a:t>
            </a:r>
            <a:r>
              <a:rPr lang="en-US" sz="2487" spc="-49" b="true">
                <a:solidFill>
                  <a:srgbClr val="9F9F9F"/>
                </a:solidFill>
                <a:latin typeface="Inter Medium"/>
                <a:ea typeface="Inter Medium"/>
                <a:cs typeface="Inter Medium"/>
                <a:sym typeface="Inter Medium"/>
              </a:rPr>
              <a:t>/ </a:t>
            </a:r>
            <a:r>
              <a:rPr lang="en-US" sz="2487" spc="-49" b="true">
                <a:solidFill>
                  <a:srgbClr val="D19F85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  <a:r>
              <a:rPr lang="en-US" sz="2487" spc="-49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03777" y="5678756"/>
            <a:ext cx="4650461" cy="5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sz="2575" spc="-51" b="true">
                <a:solidFill>
                  <a:srgbClr val="19C9E4"/>
                </a:solidFill>
                <a:latin typeface="Inter Bold"/>
                <a:ea typeface="Inter Bold"/>
                <a:cs typeface="Inter Bold"/>
                <a:sym typeface="Inter Bold"/>
              </a:rPr>
              <a:t>MERGE sort(A</a:t>
            </a:r>
            <a:r>
              <a:rPr lang="en-US" sz="2575" spc="-51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, left, mid)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6026" y="6281190"/>
            <a:ext cx="5425537" cy="5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sz="2575" spc="-51" b="true">
                <a:solidFill>
                  <a:srgbClr val="19C9E4"/>
                </a:solidFill>
                <a:latin typeface="Inter Bold"/>
                <a:ea typeface="Inter Bold"/>
                <a:cs typeface="Inter Bold"/>
                <a:sym typeface="Inter Bold"/>
              </a:rPr>
              <a:t>MERGEsort(A</a:t>
            </a:r>
            <a:r>
              <a:rPr lang="en-US" sz="2575" spc="-51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, mid </a:t>
            </a:r>
            <a:r>
              <a:rPr lang="en-US" sz="2575" spc="-51" b="true">
                <a:solidFill>
                  <a:srgbClr val="E18B1B"/>
                </a:solidFill>
                <a:latin typeface="Inter Bold"/>
                <a:ea typeface="Inter Bold"/>
                <a:cs typeface="Inter Bold"/>
                <a:sym typeface="Inter Bold"/>
              </a:rPr>
              <a:t>+</a:t>
            </a:r>
            <a:r>
              <a:rPr lang="en-US" sz="2575" spc="-51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 1, right</a:t>
            </a:r>
            <a:r>
              <a:rPr lang="en-US" sz="2575" spc="-51" b="true">
                <a:solidFill>
                  <a:srgbClr val="19C9E4"/>
                </a:solidFill>
                <a:latin typeface="Inter Bold"/>
                <a:ea typeface="Inter Bold"/>
                <a:cs typeface="Inter Bold"/>
                <a:sym typeface="Inter Bold"/>
              </a:rPr>
              <a:t>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99901" y="6883623"/>
            <a:ext cx="5037999" cy="5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sz="2575" spc="-51" b="true">
                <a:solidFill>
                  <a:srgbClr val="19C9E4"/>
                </a:solidFill>
                <a:latin typeface="Inter Bold"/>
                <a:ea typeface="Inter Bold"/>
                <a:cs typeface="Inter Bold"/>
                <a:sym typeface="Inter Bold"/>
              </a:rPr>
              <a:t>MERGE(A, </a:t>
            </a:r>
            <a:r>
              <a:rPr lang="en-US" sz="2575" spc="-51" b="true">
                <a:solidFill>
                  <a:srgbClr val="F8F8F8"/>
                </a:solidFill>
                <a:latin typeface="Inter Medium"/>
                <a:ea typeface="Inter Medium"/>
                <a:cs typeface="Inter Medium"/>
                <a:sym typeface="Inter Medium"/>
              </a:rPr>
              <a:t>left, mid, right</a:t>
            </a:r>
            <a:r>
              <a:rPr lang="en-US" sz="2575" spc="-51" b="true">
                <a:solidFill>
                  <a:srgbClr val="19C9E4"/>
                </a:solidFill>
                <a:latin typeface="Inter Bold"/>
                <a:ea typeface="Inter Bold"/>
                <a:cs typeface="Inter Bold"/>
                <a:sym typeface="Inter Bold"/>
              </a:rPr>
              <a:t>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42937" y="2953223"/>
            <a:ext cx="3139854" cy="32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b="true" sz="2399" spc="-48">
                <a:solidFill>
                  <a:srgbClr val="19C9E4"/>
                </a:solidFill>
                <a:latin typeface="Inter Bold"/>
                <a:ea typeface="Inter Bold"/>
                <a:cs typeface="Inter Bold"/>
                <a:sym typeface="Inter Bold"/>
              </a:rPr>
              <a:t>HOW MERGE WORKS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74336" y="3488592"/>
            <a:ext cx="3562945" cy="70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188" spc="-43" b="true">
                <a:solidFill>
                  <a:srgbClr val="F8F8F8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Compare elements from both sorted halves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74336" y="4497668"/>
            <a:ext cx="3562945" cy="70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188" spc="-43" b="true">
                <a:solidFill>
                  <a:srgbClr val="F8F8F8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Copy smaller element</a:t>
            </a:r>
          </a:p>
          <a:p>
            <a:pPr algn="l">
              <a:lnSpc>
                <a:spcPts val="2844"/>
              </a:lnSpc>
            </a:pPr>
            <a:r>
              <a:rPr lang="en-US" sz="2188" spc="-43" b="true">
                <a:solidFill>
                  <a:srgbClr val="F8F8F8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into output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74336" y="5491684"/>
            <a:ext cx="3027164" cy="70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188" spc="-43" b="true">
                <a:solidFill>
                  <a:srgbClr val="F8F8F8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Move pointer forward in the chosen half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74336" y="6485699"/>
            <a:ext cx="3562945" cy="705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188" spc="-43" b="true">
                <a:solidFill>
                  <a:srgbClr val="F8F8F8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Copy remaining elements after one half exhausts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706488" y="7499343"/>
            <a:ext cx="3926670" cy="2361309"/>
          </a:xfrm>
          <a:custGeom>
            <a:avLst/>
            <a:gdLst/>
            <a:ahLst/>
            <a:cxnLst/>
            <a:rect r="r" b="b" t="t" l="l"/>
            <a:pathLst>
              <a:path h="2361309" w="3926670">
                <a:moveTo>
                  <a:pt x="0" y="0"/>
                </a:moveTo>
                <a:lnTo>
                  <a:pt x="3926670" y="0"/>
                </a:lnTo>
                <a:lnTo>
                  <a:pt x="392667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141925" y="7993486"/>
            <a:ext cx="1993478" cy="351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4"/>
              </a:lnSpc>
            </a:pPr>
            <a:r>
              <a:rPr lang="en-US" b="true" sz="2623" spc="-52">
                <a:solidFill>
                  <a:srgbClr val="E18B1B"/>
                </a:solidFill>
                <a:latin typeface="Inter Bold"/>
                <a:ea typeface="Inter Bold"/>
                <a:cs typeface="Inter Bold"/>
                <a:sym typeface="Inter Bold"/>
              </a:rPr>
              <a:t>BASE CASE: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61859" y="8500424"/>
            <a:ext cx="2893219" cy="101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46" b="true">
                <a:solidFill>
                  <a:srgbClr val="F8F8F8">
                    <a:alpha val="89804"/>
                  </a:srgbClr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 subarray with zero or one element is already sorted.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278488" y="1279043"/>
            <a:ext cx="3707914" cy="1082267"/>
          </a:xfrm>
          <a:custGeom>
            <a:avLst/>
            <a:gdLst/>
            <a:ahLst/>
            <a:cxnLst/>
            <a:rect r="r" b="b" t="t" l="l"/>
            <a:pathLst>
              <a:path h="1082267" w="3707914">
                <a:moveTo>
                  <a:pt x="0" y="0"/>
                </a:moveTo>
                <a:lnTo>
                  <a:pt x="3707914" y="0"/>
                </a:lnTo>
                <a:lnTo>
                  <a:pt x="370791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506176" y="1718234"/>
            <a:ext cx="1021402" cy="32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399" spc="-48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START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798842" y="2142670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840976" y="2776725"/>
            <a:ext cx="4364182" cy="1082267"/>
          </a:xfrm>
          <a:custGeom>
            <a:avLst/>
            <a:gdLst/>
            <a:ahLst/>
            <a:cxnLst/>
            <a:rect r="r" b="b" t="t" l="l"/>
            <a:pathLst>
              <a:path h="1082267" w="4364182">
                <a:moveTo>
                  <a:pt x="0" y="0"/>
                </a:moveTo>
                <a:lnTo>
                  <a:pt x="4364182" y="0"/>
                </a:lnTo>
                <a:lnTo>
                  <a:pt x="436418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242733" y="3179136"/>
            <a:ext cx="3548288" cy="32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399" spc="-48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CHECK SUBARRAY SIZE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4798842" y="3640352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059732" y="4285339"/>
            <a:ext cx="3926670" cy="1082267"/>
          </a:xfrm>
          <a:custGeom>
            <a:avLst/>
            <a:gdLst/>
            <a:ahLst/>
            <a:cxnLst/>
            <a:rect r="r" b="b" t="t" l="l"/>
            <a:pathLst>
              <a:path h="1082267" w="3926670">
                <a:moveTo>
                  <a:pt x="0" y="0"/>
                </a:moveTo>
                <a:lnTo>
                  <a:pt x="3926670" y="0"/>
                </a:lnTo>
                <a:lnTo>
                  <a:pt x="392667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515404" y="4609916"/>
            <a:ext cx="1002945" cy="32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399" spc="-48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DIVIDE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4798842" y="5138034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059732" y="5564382"/>
            <a:ext cx="3926670" cy="1082267"/>
          </a:xfrm>
          <a:custGeom>
            <a:avLst/>
            <a:gdLst/>
            <a:ahLst/>
            <a:cxnLst/>
            <a:rect r="r" b="b" t="t" l="l"/>
            <a:pathLst>
              <a:path h="1082267" w="3926670">
                <a:moveTo>
                  <a:pt x="0" y="0"/>
                </a:moveTo>
                <a:lnTo>
                  <a:pt x="3926670" y="0"/>
                </a:lnTo>
                <a:lnTo>
                  <a:pt x="392667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3494994" y="6010574"/>
            <a:ext cx="3043765" cy="32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399" spc="-48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SORT BOTH HALVES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4798842" y="6428009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059732" y="7062064"/>
            <a:ext cx="3926670" cy="1082267"/>
          </a:xfrm>
          <a:custGeom>
            <a:avLst/>
            <a:gdLst/>
            <a:ahLst/>
            <a:cxnLst/>
            <a:rect r="r" b="b" t="t" l="l"/>
            <a:pathLst>
              <a:path h="1082267" w="3926670">
                <a:moveTo>
                  <a:pt x="0" y="0"/>
                </a:moveTo>
                <a:lnTo>
                  <a:pt x="3926670" y="0"/>
                </a:lnTo>
                <a:lnTo>
                  <a:pt x="392667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4479562" y="7426293"/>
            <a:ext cx="1074631" cy="32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399" spc="-48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MERGE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4798842" y="7925691"/>
            <a:ext cx="448450" cy="655919"/>
          </a:xfrm>
          <a:custGeom>
            <a:avLst/>
            <a:gdLst/>
            <a:ahLst/>
            <a:cxnLst/>
            <a:rect r="r" b="b" t="t" l="l"/>
            <a:pathLst>
              <a:path h="655919" w="448450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059732" y="8352038"/>
            <a:ext cx="3926670" cy="1082267"/>
          </a:xfrm>
          <a:custGeom>
            <a:avLst/>
            <a:gdLst/>
            <a:ahLst/>
            <a:cxnLst/>
            <a:rect r="r" b="b" t="t" l="l"/>
            <a:pathLst>
              <a:path h="1082267" w="3926670">
                <a:moveTo>
                  <a:pt x="0" y="0"/>
                </a:moveTo>
                <a:lnTo>
                  <a:pt x="3926670" y="0"/>
                </a:lnTo>
                <a:lnTo>
                  <a:pt x="392667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4401855" y="8872134"/>
            <a:ext cx="1230044" cy="320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8"/>
              </a:lnSpc>
            </a:pPr>
            <a:r>
              <a:rPr lang="en-US" b="true" sz="2399" spc="-48">
                <a:solidFill>
                  <a:srgbClr val="F8F8F8"/>
                </a:solidFill>
                <a:latin typeface="Inter Bold"/>
                <a:ea typeface="Inter Bold"/>
                <a:cs typeface="Inter Bold"/>
                <a:sym typeface="Inter Bold"/>
              </a:rPr>
              <a:t>RETURN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5189" y="447480"/>
            <a:ext cx="3059192" cy="1016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spc="-307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Why 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5756" y="1426435"/>
            <a:ext cx="10002542" cy="1016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spc="-307" b="true">
                <a:solidFill>
                  <a:srgbClr val="0ED6F8"/>
                </a:solidFill>
                <a:latin typeface="Inter Bold"/>
                <a:ea typeface="Inter Bold"/>
                <a:cs typeface="Inter Bold"/>
                <a:sym typeface="Inter Bold"/>
              </a:rPr>
              <a:t>Merge Sort O(n log n)</a:t>
            </a:r>
            <a:r>
              <a:rPr lang="en-US" sz="7682" spc="-307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2145" y="3294532"/>
            <a:ext cx="1042560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99" b="true">
                <a:solidFill>
                  <a:srgbClr val="863BE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Level 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2936" y="4815677"/>
            <a:ext cx="963480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99" b="true">
                <a:solidFill>
                  <a:srgbClr val="863BE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Level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2276" y="6351883"/>
            <a:ext cx="1029434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99" b="true">
                <a:solidFill>
                  <a:srgbClr val="863BE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Level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5894" y="8656192"/>
            <a:ext cx="1667643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99" b="true">
                <a:solidFill>
                  <a:srgbClr val="863BE2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Level log₂ 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353244" y="2995365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040708" y="4493047"/>
            <a:ext cx="1531292" cy="1082267"/>
          </a:xfrm>
          <a:custGeom>
            <a:avLst/>
            <a:gdLst/>
            <a:ahLst/>
            <a:cxnLst/>
            <a:rect r="r" b="b" t="t" l="l"/>
            <a:pathLst>
              <a:path h="1082267" w="1531292">
                <a:moveTo>
                  <a:pt x="0" y="0"/>
                </a:moveTo>
                <a:lnTo>
                  <a:pt x="1531292" y="0"/>
                </a:lnTo>
                <a:lnTo>
                  <a:pt x="153129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48622" y="4493047"/>
            <a:ext cx="1531292" cy="1082267"/>
          </a:xfrm>
          <a:custGeom>
            <a:avLst/>
            <a:gdLst/>
            <a:ahLst/>
            <a:cxnLst/>
            <a:rect r="r" b="b" t="t" l="l"/>
            <a:pathLst>
              <a:path h="1082267" w="1531292">
                <a:moveTo>
                  <a:pt x="0" y="0"/>
                </a:moveTo>
                <a:lnTo>
                  <a:pt x="1531292" y="0"/>
                </a:lnTo>
                <a:lnTo>
                  <a:pt x="153129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76622" y="5990729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30736" y="6310969"/>
            <a:ext cx="648885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n/4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134488" y="5990729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459548" y="6310969"/>
            <a:ext cx="648885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n/4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092354" y="5990729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361572" y="6310969"/>
            <a:ext cx="648885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n/4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831464" y="5990729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156439" y="6310969"/>
            <a:ext cx="648885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n/4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4353244" y="4919394"/>
            <a:ext cx="2614134" cy="229572"/>
          </a:xfrm>
          <a:custGeom>
            <a:avLst/>
            <a:gdLst/>
            <a:ahLst/>
            <a:cxnLst/>
            <a:rect r="r" b="b" t="t" l="l"/>
            <a:pathLst>
              <a:path h="229572" w="2614134">
                <a:moveTo>
                  <a:pt x="0" y="0"/>
                </a:moveTo>
                <a:lnTo>
                  <a:pt x="2614134" y="0"/>
                </a:lnTo>
                <a:lnTo>
                  <a:pt x="261413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478220" y="6428009"/>
            <a:ext cx="667206" cy="218640"/>
          </a:xfrm>
          <a:custGeom>
            <a:avLst/>
            <a:gdLst/>
            <a:ahLst/>
            <a:cxnLst/>
            <a:rect r="r" b="b" t="t" l="l"/>
            <a:pathLst>
              <a:path h="218640" w="667206">
                <a:moveTo>
                  <a:pt x="0" y="0"/>
                </a:moveTo>
                <a:lnTo>
                  <a:pt x="667206" y="0"/>
                </a:lnTo>
                <a:lnTo>
                  <a:pt x="66720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5436086" y="6428009"/>
            <a:ext cx="667206" cy="218640"/>
          </a:xfrm>
          <a:custGeom>
            <a:avLst/>
            <a:gdLst/>
            <a:ahLst/>
            <a:cxnLst/>
            <a:rect r="r" b="b" t="t" l="l"/>
            <a:pathLst>
              <a:path h="218640" w="667206">
                <a:moveTo>
                  <a:pt x="0" y="0"/>
                </a:moveTo>
                <a:lnTo>
                  <a:pt x="667206" y="0"/>
                </a:lnTo>
                <a:lnTo>
                  <a:pt x="66720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175196" y="6428009"/>
            <a:ext cx="667206" cy="218640"/>
          </a:xfrm>
          <a:custGeom>
            <a:avLst/>
            <a:gdLst/>
            <a:ahLst/>
            <a:cxnLst/>
            <a:rect r="r" b="b" t="t" l="l"/>
            <a:pathLst>
              <a:path h="218640" w="667206">
                <a:moveTo>
                  <a:pt x="0" y="0"/>
                </a:moveTo>
                <a:lnTo>
                  <a:pt x="667206" y="0"/>
                </a:lnTo>
                <a:lnTo>
                  <a:pt x="66720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2384440" y="7707051"/>
            <a:ext cx="6551742" cy="874559"/>
          </a:xfrm>
          <a:custGeom>
            <a:avLst/>
            <a:gdLst/>
            <a:ahLst/>
            <a:cxnLst/>
            <a:rect r="r" b="b" t="t" l="l"/>
            <a:pathLst>
              <a:path h="874559" w="6551742">
                <a:moveTo>
                  <a:pt x="0" y="0"/>
                </a:moveTo>
                <a:lnTo>
                  <a:pt x="6551742" y="0"/>
                </a:lnTo>
                <a:lnTo>
                  <a:pt x="655174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384440" y="8352038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040708" y="8352038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696976" y="8352038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572000" y="8352038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092354" y="8352038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6748622" y="8352038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612708" y="8352038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268976" y="8352038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9789330" y="2569017"/>
            <a:ext cx="7853340" cy="1289974"/>
          </a:xfrm>
          <a:custGeom>
            <a:avLst/>
            <a:gdLst/>
            <a:ahLst/>
            <a:cxnLst/>
            <a:rect r="r" b="b" t="t" l="l"/>
            <a:pathLst>
              <a:path h="1289974" w="7853340">
                <a:moveTo>
                  <a:pt x="0" y="0"/>
                </a:moveTo>
                <a:lnTo>
                  <a:pt x="7853340" y="0"/>
                </a:lnTo>
                <a:lnTo>
                  <a:pt x="785334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789330" y="3848060"/>
            <a:ext cx="4145426" cy="1727254"/>
          </a:xfrm>
          <a:custGeom>
            <a:avLst/>
            <a:gdLst/>
            <a:ahLst/>
            <a:cxnLst/>
            <a:rect r="r" b="b" t="t" l="l"/>
            <a:pathLst>
              <a:path h="1727254" w="4145426">
                <a:moveTo>
                  <a:pt x="0" y="0"/>
                </a:moveTo>
                <a:lnTo>
                  <a:pt x="4145426" y="0"/>
                </a:lnTo>
                <a:lnTo>
                  <a:pt x="414542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716000" y="3848060"/>
            <a:ext cx="3926670" cy="1727254"/>
          </a:xfrm>
          <a:custGeom>
            <a:avLst/>
            <a:gdLst/>
            <a:ahLst/>
            <a:cxnLst/>
            <a:rect r="r" b="b" t="t" l="l"/>
            <a:pathLst>
              <a:path h="1727254" w="3926670">
                <a:moveTo>
                  <a:pt x="0" y="0"/>
                </a:moveTo>
                <a:lnTo>
                  <a:pt x="3926670" y="0"/>
                </a:lnTo>
                <a:lnTo>
                  <a:pt x="392667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789330" y="5783021"/>
            <a:ext cx="3926670" cy="4077631"/>
          </a:xfrm>
          <a:custGeom>
            <a:avLst/>
            <a:gdLst/>
            <a:ahLst/>
            <a:cxnLst/>
            <a:rect r="r" b="b" t="t" l="l"/>
            <a:pathLst>
              <a:path h="4077631" w="3926670">
                <a:moveTo>
                  <a:pt x="0" y="0"/>
                </a:moveTo>
                <a:lnTo>
                  <a:pt x="3926670" y="0"/>
                </a:lnTo>
                <a:lnTo>
                  <a:pt x="392667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0470166" y="6156036"/>
            <a:ext cx="2675833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-94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TIME COMPLEXITY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119807" y="6984438"/>
            <a:ext cx="645900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99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Best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117444" y="8882104"/>
            <a:ext cx="882173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99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Worst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977218" y="8882104"/>
            <a:ext cx="1395518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99">
                <a:solidFill>
                  <a:srgbClr val="0ED6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O(n log n)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3716000" y="5783021"/>
            <a:ext cx="3926670" cy="4077631"/>
          </a:xfrm>
          <a:custGeom>
            <a:avLst/>
            <a:gdLst/>
            <a:ahLst/>
            <a:cxnLst/>
            <a:rect r="r" b="b" t="t" l="l"/>
            <a:pathLst>
              <a:path h="4077631" w="3926670">
                <a:moveTo>
                  <a:pt x="0" y="0"/>
                </a:moveTo>
                <a:lnTo>
                  <a:pt x="3926670" y="0"/>
                </a:lnTo>
                <a:lnTo>
                  <a:pt x="392667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4302708" y="6156036"/>
            <a:ext cx="2944025" cy="307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1"/>
              </a:lnSpc>
            </a:pPr>
            <a:r>
              <a:rPr lang="en-US" b="true" sz="2351" spc="-94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SPACE COMPLEXITY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358938" y="7705236"/>
            <a:ext cx="3402211" cy="73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spc="-87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Recursion stack</a:t>
            </a:r>
          </a:p>
          <a:p>
            <a:pPr algn="l">
              <a:lnSpc>
                <a:spcPts val="3063"/>
              </a:lnSpc>
            </a:pPr>
            <a:r>
              <a:rPr lang="en-US" sz="2188" spc="-87" b="true">
                <a:solidFill>
                  <a:srgbClr val="F07112"/>
                </a:solidFill>
                <a:latin typeface="Inter Bold"/>
                <a:ea typeface="Inter Bold"/>
                <a:cs typeface="Inter Bold"/>
                <a:sym typeface="Inter Bold"/>
              </a:rPr>
              <a:t>O(log n)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358938" y="8774556"/>
            <a:ext cx="3402211" cy="73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spc="-87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Overall auxiliary space</a:t>
            </a:r>
          </a:p>
          <a:p>
            <a:pPr algn="l">
              <a:lnSpc>
                <a:spcPts val="3063"/>
              </a:lnSpc>
            </a:pPr>
            <a:r>
              <a:rPr lang="en-US" sz="2188" spc="-87" b="true">
                <a:solidFill>
                  <a:srgbClr val="F07112"/>
                </a:solidFill>
                <a:latin typeface="Inter Bold"/>
                <a:ea typeface="Inter Bold"/>
                <a:cs typeface="Inter Bold"/>
                <a:sym typeface="Inter Bold"/>
              </a:rPr>
              <a:t>O(n)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358938" y="6786525"/>
            <a:ext cx="3402211" cy="73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3"/>
              </a:lnSpc>
            </a:pPr>
            <a:r>
              <a:rPr lang="en-US" sz="2188" spc="-87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Temporary arrays</a:t>
            </a:r>
          </a:p>
          <a:p>
            <a:pPr algn="l">
              <a:lnSpc>
                <a:spcPts val="3063"/>
              </a:lnSpc>
            </a:pPr>
            <a:r>
              <a:rPr lang="en-US" sz="2188" spc="-87" b="true">
                <a:solidFill>
                  <a:srgbClr val="F07112"/>
                </a:solidFill>
                <a:latin typeface="Inter Bold"/>
                <a:ea typeface="Inter Bold"/>
                <a:cs typeface="Inter Bold"/>
                <a:sym typeface="Inter Bold"/>
              </a:rPr>
              <a:t>O(n)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06633" y="4301531"/>
            <a:ext cx="3268266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87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Number of levels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977218" y="6984438"/>
            <a:ext cx="1395518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99">
                <a:solidFill>
                  <a:srgbClr val="0ED6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O(n log n)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77218" y="7933271"/>
            <a:ext cx="1395518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7"/>
              </a:lnSpc>
            </a:pPr>
            <a:r>
              <a:rPr lang="en-US" b="true" sz="2487" spc="-99">
                <a:solidFill>
                  <a:srgbClr val="0ED6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O(n log n)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358938" y="4301531"/>
            <a:ext cx="2705695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 spc="-87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Work per level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113957" y="7933271"/>
            <a:ext cx="1230816" cy="328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7"/>
              </a:lnSpc>
            </a:pPr>
            <a:r>
              <a:rPr lang="en-US" sz="2487" spc="-99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Average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3464486" y="4774763"/>
            <a:ext cx="628223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n/2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161376" y="4774763"/>
            <a:ext cx="628223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n/2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413799" y="3208435"/>
            <a:ext cx="240571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630801" y="8615277"/>
            <a:ext cx="159969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380894" y="8615277"/>
            <a:ext cx="159969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130988" y="8615277"/>
            <a:ext cx="159969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881082" y="8615277"/>
            <a:ext cx="159969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381269" y="8615277"/>
            <a:ext cx="159969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131363" y="8615277"/>
            <a:ext cx="159969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881457" y="8615277"/>
            <a:ext cx="159969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631551" y="8615277"/>
            <a:ext cx="159969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 spc="-126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7727" y="559834"/>
            <a:ext cx="8557730" cy="207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7716" spc="-229" b="true">
                <a:solidFill>
                  <a:srgbClr val="192C52"/>
                </a:solidFill>
                <a:latin typeface="Inter Bold"/>
                <a:ea typeface="Inter Bold"/>
                <a:cs typeface="Inter Bold"/>
                <a:sym typeface="Inter Bold"/>
              </a:rPr>
              <a:t>Where Does</a:t>
            </a:r>
          </a:p>
          <a:p>
            <a:pPr algn="l">
              <a:lnSpc>
                <a:spcPts val="8101"/>
              </a:lnSpc>
            </a:pPr>
            <a:r>
              <a:rPr lang="en-US" sz="7716" spc="-229" b="true">
                <a:solidFill>
                  <a:srgbClr val="0650E1"/>
                </a:solidFill>
                <a:latin typeface="Inter Bold"/>
                <a:ea typeface="Inter Bold"/>
                <a:cs typeface="Inter Bold"/>
                <a:sym typeface="Inter Bold"/>
              </a:rPr>
              <a:t>Merge Sort Stand?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995365"/>
            <a:ext cx="5676718" cy="4514911"/>
          </a:xfrm>
          <a:custGeom>
            <a:avLst/>
            <a:gdLst/>
            <a:ahLst/>
            <a:cxnLst/>
            <a:rect r="r" b="b" t="t" l="l"/>
            <a:pathLst>
              <a:path h="4514911" w="5676718">
                <a:moveTo>
                  <a:pt x="0" y="0"/>
                </a:moveTo>
                <a:lnTo>
                  <a:pt x="5676718" y="0"/>
                </a:lnTo>
                <a:lnTo>
                  <a:pt x="5676718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574" y="3640352"/>
            <a:ext cx="5676718" cy="1082267"/>
          </a:xfrm>
          <a:custGeom>
            <a:avLst/>
            <a:gdLst/>
            <a:ahLst/>
            <a:cxnLst/>
            <a:rect r="r" b="b" t="t" l="l"/>
            <a:pathLst>
              <a:path h="1082267" w="5676718">
                <a:moveTo>
                  <a:pt x="0" y="0"/>
                </a:moveTo>
                <a:lnTo>
                  <a:pt x="5676718" y="0"/>
                </a:lnTo>
                <a:lnTo>
                  <a:pt x="5676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03196" y="2776725"/>
            <a:ext cx="1323474" cy="1082267"/>
          </a:xfrm>
          <a:custGeom>
            <a:avLst/>
            <a:gdLst/>
            <a:ahLst/>
            <a:cxnLst/>
            <a:rect r="r" b="b" t="t" l="l"/>
            <a:pathLst>
              <a:path h="1082267" w="1323474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78810" y="4002342"/>
            <a:ext cx="2477113" cy="37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759" spc="-55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ADVANTAGES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2297" y="4711428"/>
            <a:ext cx="4554141" cy="215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6"/>
              </a:lnSpc>
            </a:pPr>
            <a:r>
              <a:rPr lang="en-US" sz="2188" spc="-43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Guaranteed O(n log n) time</a:t>
            </a:r>
          </a:p>
          <a:p>
            <a:pPr algn="l">
              <a:lnSpc>
                <a:spcPts val="4376"/>
              </a:lnSpc>
            </a:pPr>
            <a:r>
              <a:rPr lang="en-US" sz="2188" spc="-43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Stable sorting</a:t>
            </a:r>
          </a:p>
          <a:p>
            <a:pPr algn="l">
              <a:lnSpc>
                <a:spcPts val="4376"/>
              </a:lnSpc>
            </a:pPr>
            <a:r>
              <a:rPr lang="en-US" sz="2188" spc="-43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Good for large datasets</a:t>
            </a:r>
          </a:p>
          <a:p>
            <a:pPr algn="l">
              <a:lnSpc>
                <a:spcPts val="4376"/>
              </a:lnSpc>
            </a:pPr>
            <a:r>
              <a:rPr lang="en-US" sz="2188" spc="-43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Effective for linked lists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311110" y="2995365"/>
            <a:ext cx="5447024" cy="4514911"/>
          </a:xfrm>
          <a:custGeom>
            <a:avLst/>
            <a:gdLst/>
            <a:ahLst/>
            <a:cxnLst/>
            <a:rect r="r" b="b" t="t" l="l"/>
            <a:pathLst>
              <a:path h="4514911" w="5447024">
                <a:moveTo>
                  <a:pt x="0" y="0"/>
                </a:moveTo>
                <a:lnTo>
                  <a:pt x="5447024" y="0"/>
                </a:lnTo>
                <a:lnTo>
                  <a:pt x="5447024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11110" y="3640352"/>
            <a:ext cx="5447024" cy="1082267"/>
          </a:xfrm>
          <a:custGeom>
            <a:avLst/>
            <a:gdLst/>
            <a:ahLst/>
            <a:cxnLst/>
            <a:rect r="r" b="b" t="t" l="l"/>
            <a:pathLst>
              <a:path h="1082267" w="5447024">
                <a:moveTo>
                  <a:pt x="0" y="0"/>
                </a:moveTo>
                <a:lnTo>
                  <a:pt x="5447024" y="0"/>
                </a:lnTo>
                <a:lnTo>
                  <a:pt x="5447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87732" y="2776725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37213" y="4002342"/>
            <a:ext cx="3051053" cy="37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759" spc="-55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DISADVANTAGES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31211" y="4701945"/>
            <a:ext cx="4554141" cy="1599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6"/>
              </a:lnSpc>
            </a:pPr>
            <a:r>
              <a:rPr lang="en-US" sz="2188" spc="-43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Requires O(n) extra array space</a:t>
            </a:r>
          </a:p>
          <a:p>
            <a:pPr algn="l">
              <a:lnSpc>
                <a:spcPts val="4376"/>
              </a:lnSpc>
            </a:pPr>
            <a:r>
              <a:rPr lang="en-US" sz="2188" spc="-43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Copying and memory overhead</a:t>
            </a:r>
          </a:p>
          <a:p>
            <a:pPr algn="l">
              <a:lnSpc>
                <a:spcPts val="4376"/>
              </a:lnSpc>
            </a:pPr>
            <a:r>
              <a:rPr lang="en-US" sz="2188" spc="-43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Less efficient for very small arrays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965952" y="2995365"/>
            <a:ext cx="5676718" cy="4514911"/>
          </a:xfrm>
          <a:custGeom>
            <a:avLst/>
            <a:gdLst/>
            <a:ahLst/>
            <a:cxnLst/>
            <a:rect r="r" b="b" t="t" l="l"/>
            <a:pathLst>
              <a:path h="4514911" w="5676718">
                <a:moveTo>
                  <a:pt x="0" y="0"/>
                </a:moveTo>
                <a:lnTo>
                  <a:pt x="5676718" y="0"/>
                </a:lnTo>
                <a:lnTo>
                  <a:pt x="5676718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965952" y="3640352"/>
            <a:ext cx="5676718" cy="1082267"/>
          </a:xfrm>
          <a:custGeom>
            <a:avLst/>
            <a:gdLst/>
            <a:ahLst/>
            <a:cxnLst/>
            <a:rect r="r" b="b" t="t" l="l"/>
            <a:pathLst>
              <a:path h="1082267" w="5676718">
                <a:moveTo>
                  <a:pt x="0" y="0"/>
                </a:moveTo>
                <a:lnTo>
                  <a:pt x="5676718" y="0"/>
                </a:lnTo>
                <a:lnTo>
                  <a:pt x="5676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42574" y="2776725"/>
            <a:ext cx="1323474" cy="1082267"/>
          </a:xfrm>
          <a:custGeom>
            <a:avLst/>
            <a:gdLst/>
            <a:ahLst/>
            <a:cxnLst/>
            <a:rect r="r" b="b" t="t" l="l"/>
            <a:pathLst>
              <a:path h="1082267" w="1323474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436620" y="4002342"/>
            <a:ext cx="2600086" cy="37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759" spc="-55">
                <a:solidFill>
                  <a:srgbClr val="F1F1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APPLICATIONS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71227" y="4884493"/>
            <a:ext cx="4554141" cy="228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6"/>
              </a:lnSpc>
            </a:pPr>
            <a:r>
              <a:rPr lang="en-US" sz="1789" spc="-35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Sorting large datasets</a:t>
            </a:r>
          </a:p>
          <a:p>
            <a:pPr algn="l">
              <a:lnSpc>
                <a:spcPts val="2326"/>
              </a:lnSpc>
            </a:pPr>
          </a:p>
          <a:p>
            <a:pPr algn="l">
              <a:lnSpc>
                <a:spcPts val="2326"/>
              </a:lnSpc>
            </a:pPr>
            <a:r>
              <a:rPr lang="en-US" sz="1789" spc="-35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External sorting for data</a:t>
            </a:r>
          </a:p>
          <a:p>
            <a:pPr algn="l">
              <a:lnSpc>
                <a:spcPts val="2326"/>
              </a:lnSpc>
            </a:pPr>
            <a:r>
              <a:rPr lang="en-US" sz="1789" spc="-35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exceeding RAM</a:t>
            </a:r>
          </a:p>
          <a:p>
            <a:pPr algn="l">
              <a:lnSpc>
                <a:spcPts val="2326"/>
              </a:lnSpc>
            </a:pPr>
          </a:p>
          <a:p>
            <a:pPr algn="l">
              <a:lnSpc>
                <a:spcPts val="2326"/>
              </a:lnSpc>
            </a:pPr>
            <a:r>
              <a:rPr lang="en-US" sz="1789" spc="-35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Sorting linked lists</a:t>
            </a:r>
          </a:p>
          <a:p>
            <a:pPr algn="l">
              <a:lnSpc>
                <a:spcPts val="2326"/>
              </a:lnSpc>
            </a:pPr>
          </a:p>
          <a:p>
            <a:pPr algn="l">
              <a:lnSpc>
                <a:spcPts val="2326"/>
              </a:lnSpc>
            </a:pPr>
            <a:r>
              <a:rPr lang="en-US" sz="1789" spc="-35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Stable sorting of records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426574" y="7707051"/>
            <a:ext cx="17216096" cy="2372241"/>
          </a:xfrm>
          <a:custGeom>
            <a:avLst/>
            <a:gdLst/>
            <a:ahLst/>
            <a:cxnLst/>
            <a:rect r="r" b="b" t="t" l="l"/>
            <a:pathLst>
              <a:path h="2372241" w="17216096">
                <a:moveTo>
                  <a:pt x="0" y="0"/>
                </a:moveTo>
                <a:lnTo>
                  <a:pt x="17216096" y="0"/>
                </a:lnTo>
                <a:lnTo>
                  <a:pt x="1721609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45330" y="7707051"/>
            <a:ext cx="229694" cy="2372241"/>
          </a:xfrm>
          <a:custGeom>
            <a:avLst/>
            <a:gdLst/>
            <a:ahLst/>
            <a:cxnLst/>
            <a:rect r="r" b="b" t="t" l="l"/>
            <a:pathLst>
              <a:path h="2372241" w="229694">
                <a:moveTo>
                  <a:pt x="0" y="0"/>
                </a:moveTo>
                <a:lnTo>
                  <a:pt x="229694" y="0"/>
                </a:lnTo>
                <a:lnTo>
                  <a:pt x="22969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08614" y="7987701"/>
            <a:ext cx="2368278" cy="48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498" spc="-70" b="true">
                <a:solidFill>
                  <a:srgbClr val="10A9DB"/>
                </a:solidFill>
                <a:latin typeface="Inter Bold"/>
                <a:ea typeface="Inter Bold"/>
                <a:cs typeface="Inter Bold"/>
                <a:sym typeface="Inter Bold"/>
              </a:rPr>
              <a:t>Merge Sort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3606" y="8539086"/>
            <a:ext cx="3869048" cy="80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355" spc="-47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O(n log n) worst case,</a:t>
            </a:r>
          </a:p>
          <a:p>
            <a:pPr algn="l">
              <a:lnSpc>
                <a:spcPts val="3297"/>
              </a:lnSpc>
            </a:pPr>
            <a:r>
              <a:rPr lang="en-US" sz="2355" spc="-47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stable, O(n) auxiliary space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311110" y="7707051"/>
            <a:ext cx="229694" cy="2372241"/>
          </a:xfrm>
          <a:custGeom>
            <a:avLst/>
            <a:gdLst/>
            <a:ahLst/>
            <a:cxnLst/>
            <a:rect r="r" b="b" t="t" l="l"/>
            <a:pathLst>
              <a:path h="2372241" w="229694">
                <a:moveTo>
                  <a:pt x="0" y="0"/>
                </a:moveTo>
                <a:lnTo>
                  <a:pt x="229694" y="0"/>
                </a:lnTo>
                <a:lnTo>
                  <a:pt x="22969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808985" y="7987701"/>
            <a:ext cx="2222547" cy="48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498" spc="-70" b="true">
                <a:solidFill>
                  <a:srgbClr val="7848DB"/>
                </a:solidFill>
                <a:latin typeface="Inter Bold"/>
                <a:ea typeface="Inter Bold"/>
                <a:cs typeface="Inter Bold"/>
                <a:sym typeface="Inter Bold"/>
              </a:rPr>
              <a:t>Quick Sort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04022" y="8539086"/>
            <a:ext cx="2718919" cy="1219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355" spc="-47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O(n log n) average,</a:t>
            </a:r>
          </a:p>
          <a:p>
            <a:pPr algn="l">
              <a:lnSpc>
                <a:spcPts val="3297"/>
              </a:lnSpc>
            </a:pPr>
            <a:r>
              <a:rPr lang="en-US" sz="2355" spc="-47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O(n²) worst case,</a:t>
            </a:r>
          </a:p>
          <a:p>
            <a:pPr algn="l">
              <a:lnSpc>
                <a:spcPts val="3297"/>
              </a:lnSpc>
            </a:pPr>
            <a:r>
              <a:rPr lang="en-US" sz="2355" spc="-47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typically in-place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528440" y="7707051"/>
            <a:ext cx="448450" cy="2372241"/>
          </a:xfrm>
          <a:custGeom>
            <a:avLst/>
            <a:gdLst/>
            <a:ahLst/>
            <a:cxnLst/>
            <a:rect r="r" b="b" t="t" l="l"/>
            <a:pathLst>
              <a:path h="2372241" w="448450">
                <a:moveTo>
                  <a:pt x="0" y="0"/>
                </a:moveTo>
                <a:lnTo>
                  <a:pt x="448450" y="0"/>
                </a:lnTo>
                <a:lnTo>
                  <a:pt x="44845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221559" y="7987701"/>
            <a:ext cx="2104268" cy="483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498" spc="-70" b="true">
                <a:solidFill>
                  <a:srgbClr val="EF801D"/>
                </a:solidFill>
                <a:latin typeface="Inter Bold"/>
                <a:ea typeface="Inter Bold"/>
                <a:cs typeface="Inter Bold"/>
                <a:sym typeface="Inter Bold"/>
              </a:rPr>
              <a:t>Heap Sort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02444" y="8539086"/>
            <a:ext cx="4015768" cy="80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355" spc="-47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O(n log n) worst case,</a:t>
            </a:r>
          </a:p>
          <a:p>
            <a:pPr algn="l">
              <a:lnSpc>
                <a:spcPts val="3297"/>
              </a:lnSpc>
            </a:pPr>
            <a:r>
              <a:rPr lang="en-US" sz="2355" spc="-47" b="true">
                <a:solidFill>
                  <a:srgbClr val="293A5D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O(1) auxiliary space iterative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8993" y="457061"/>
            <a:ext cx="10788951" cy="109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</a:pPr>
            <a:r>
              <a:rPr lang="en-US" sz="8240" b="true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From Chaos </a:t>
            </a:r>
            <a:r>
              <a:rPr lang="en-US" sz="8240" b="true">
                <a:solidFill>
                  <a:srgbClr val="08BEE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to Order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08094" y="1936979"/>
            <a:ext cx="2866430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ORIGINAL ARRAY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353244" y="2142670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19192" y="2498024"/>
            <a:ext cx="492704" cy="38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</a:pPr>
            <a:r>
              <a:rPr lang="en-US" b="true" sz="2838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38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654842" y="2142670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75196" y="2142670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48709" y="2496113"/>
            <a:ext cx="484325" cy="39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b="true" sz="3036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27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487732" y="2142670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790048" y="2507785"/>
            <a:ext cx="480554" cy="361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2"/>
              </a:lnSpc>
            </a:pPr>
            <a:r>
              <a:rPr lang="en-US" b="true" sz="2772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43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789330" y="2142670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01866" y="2142670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481523" y="2496113"/>
            <a:ext cx="455416" cy="39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b="true" sz="3036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31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403464" y="2142670"/>
            <a:ext cx="1312536" cy="1082267"/>
          </a:xfrm>
          <a:custGeom>
            <a:avLst/>
            <a:gdLst/>
            <a:ahLst/>
            <a:cxnLst/>
            <a:rect r="r" b="b" t="t" l="l"/>
            <a:pathLst>
              <a:path h="1082267" w="1312536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786227" y="2476827"/>
            <a:ext cx="471337" cy="42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2"/>
              </a:lnSpc>
            </a:pPr>
            <a:r>
              <a:rPr lang="en-US" b="true" sz="3102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18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654842" y="3848060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01598" y="3421712"/>
            <a:ext cx="4364182" cy="1727254"/>
          </a:xfrm>
          <a:custGeom>
            <a:avLst/>
            <a:gdLst/>
            <a:ahLst/>
            <a:cxnLst/>
            <a:rect r="r" b="b" t="t" l="l"/>
            <a:pathLst>
              <a:path h="1727254" w="4364182">
                <a:moveTo>
                  <a:pt x="0" y="0"/>
                </a:moveTo>
                <a:lnTo>
                  <a:pt x="4364182" y="0"/>
                </a:lnTo>
                <a:lnTo>
                  <a:pt x="436418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758625" y="3720504"/>
            <a:ext cx="1384684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DIVIDE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02023" y="4282550"/>
            <a:ext cx="3161109" cy="64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Break the array into smaller parts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956440" y="3421712"/>
            <a:ext cx="4156364" cy="1727254"/>
          </a:xfrm>
          <a:custGeom>
            <a:avLst/>
            <a:gdLst/>
            <a:ahLst/>
            <a:cxnLst/>
            <a:rect r="r" b="b" t="t" l="l"/>
            <a:pathLst>
              <a:path h="1727254" w="4156364">
                <a:moveTo>
                  <a:pt x="0" y="0"/>
                </a:moveTo>
                <a:lnTo>
                  <a:pt x="4156364" y="0"/>
                </a:lnTo>
                <a:lnTo>
                  <a:pt x="415636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968999" y="3720504"/>
            <a:ext cx="2087290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CONQUER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08094" y="4282550"/>
            <a:ext cx="2866430" cy="64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Recursively sort</a:t>
            </a:r>
          </a:p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the subarrays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320622" y="3848060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403464" y="3421712"/>
            <a:ext cx="4364182" cy="1727254"/>
          </a:xfrm>
          <a:custGeom>
            <a:avLst/>
            <a:gdLst/>
            <a:ahLst/>
            <a:cxnLst/>
            <a:rect r="r" b="b" t="t" l="l"/>
            <a:pathLst>
              <a:path h="1727254" w="4364182">
                <a:moveTo>
                  <a:pt x="0" y="0"/>
                </a:moveTo>
                <a:lnTo>
                  <a:pt x="4364182" y="0"/>
                </a:lnTo>
                <a:lnTo>
                  <a:pt x="436418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816827" y="3720504"/>
            <a:ext cx="1449624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MERGE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92695" y="4282550"/>
            <a:ext cx="3161109" cy="64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Combine sorted parts into a single array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08094" y="5476277"/>
            <a:ext cx="2866430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8"/>
              </a:lnSpc>
            </a:pPr>
            <a:r>
              <a:rPr lang="en-US" b="true" sz="2188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SORTED ARRAY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4353244" y="5783021"/>
            <a:ext cx="1312536" cy="863627"/>
          </a:xfrm>
          <a:custGeom>
            <a:avLst/>
            <a:gdLst/>
            <a:ahLst/>
            <a:cxnLst/>
            <a:rect r="r" b="b" t="t" l="l"/>
            <a:pathLst>
              <a:path h="863627" w="1312536">
                <a:moveTo>
                  <a:pt x="0" y="0"/>
                </a:moveTo>
                <a:lnTo>
                  <a:pt x="1312536" y="0"/>
                </a:lnTo>
                <a:lnTo>
                  <a:pt x="131253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942158" y="6039873"/>
            <a:ext cx="246771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9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5654842" y="5783021"/>
            <a:ext cx="1312536" cy="863627"/>
          </a:xfrm>
          <a:custGeom>
            <a:avLst/>
            <a:gdLst/>
            <a:ahLst/>
            <a:cxnLst/>
            <a:rect r="r" b="b" t="t" l="l"/>
            <a:pathLst>
              <a:path h="863627" w="1312536">
                <a:moveTo>
                  <a:pt x="0" y="0"/>
                </a:moveTo>
                <a:lnTo>
                  <a:pt x="1312536" y="0"/>
                </a:lnTo>
                <a:lnTo>
                  <a:pt x="131253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6148195" y="6039873"/>
            <a:ext cx="460025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12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7175196" y="5783021"/>
            <a:ext cx="1104718" cy="863627"/>
          </a:xfrm>
          <a:custGeom>
            <a:avLst/>
            <a:gdLst/>
            <a:ahLst/>
            <a:cxnLst/>
            <a:rect r="r" b="b" t="t" l="l"/>
            <a:pathLst>
              <a:path h="863627" w="1104718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7455203" y="6031185"/>
            <a:ext cx="471337" cy="42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2"/>
              </a:lnSpc>
            </a:pPr>
            <a:r>
              <a:rPr lang="en-US" b="true" sz="3102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18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487732" y="5783021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8788163" y="6050472"/>
            <a:ext cx="484325" cy="39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b="true" sz="3036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27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9789330" y="5783021"/>
            <a:ext cx="1104718" cy="863627"/>
          </a:xfrm>
          <a:custGeom>
            <a:avLst/>
            <a:gdLst/>
            <a:ahLst/>
            <a:cxnLst/>
            <a:rect r="r" b="b" t="t" l="l"/>
            <a:pathLst>
              <a:path h="863627" w="1104718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0142070" y="6050472"/>
            <a:ext cx="455416" cy="394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b="true" sz="3036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31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1101866" y="5783021"/>
            <a:ext cx="1312536" cy="863627"/>
          </a:xfrm>
          <a:custGeom>
            <a:avLst/>
            <a:gdLst/>
            <a:ahLst/>
            <a:cxnLst/>
            <a:rect r="r" b="b" t="t" l="l"/>
            <a:pathLst>
              <a:path h="863627" w="1312536">
                <a:moveTo>
                  <a:pt x="0" y="0"/>
                </a:moveTo>
                <a:lnTo>
                  <a:pt x="1312536" y="0"/>
                </a:lnTo>
                <a:lnTo>
                  <a:pt x="131253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1462879" y="6052382"/>
            <a:ext cx="492704" cy="38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8"/>
              </a:lnSpc>
            </a:pPr>
            <a:r>
              <a:rPr lang="en-US" b="true" sz="2838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38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2403464" y="5783021"/>
            <a:ext cx="1312536" cy="863627"/>
          </a:xfrm>
          <a:custGeom>
            <a:avLst/>
            <a:gdLst/>
            <a:ahLst/>
            <a:cxnLst/>
            <a:rect r="r" b="b" t="t" l="l"/>
            <a:pathLst>
              <a:path h="863627" w="1312536">
                <a:moveTo>
                  <a:pt x="0" y="0"/>
                </a:moveTo>
                <a:lnTo>
                  <a:pt x="1312536" y="0"/>
                </a:lnTo>
                <a:lnTo>
                  <a:pt x="131253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2781618" y="6062144"/>
            <a:ext cx="480554" cy="361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2"/>
              </a:lnSpc>
            </a:pPr>
            <a:r>
              <a:rPr lang="en-US" b="true" sz="2772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43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4998574" y="7280704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9144000" y="7280704"/>
            <a:ext cx="218756" cy="1508614"/>
          </a:xfrm>
          <a:custGeom>
            <a:avLst/>
            <a:gdLst/>
            <a:ahLst/>
            <a:cxnLst/>
            <a:rect r="r" b="b" t="t" l="l"/>
            <a:pathLst>
              <a:path h="1508614" w="218756">
                <a:moveTo>
                  <a:pt x="0" y="0"/>
                </a:moveTo>
                <a:lnTo>
                  <a:pt x="218756" y="0"/>
                </a:lnTo>
                <a:lnTo>
                  <a:pt x="21875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3278488" y="7280704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2384440" y="8778386"/>
            <a:ext cx="13519120" cy="1082267"/>
          </a:xfrm>
          <a:custGeom>
            <a:avLst/>
            <a:gdLst/>
            <a:ahLst/>
            <a:cxnLst/>
            <a:rect r="r" b="b" t="t" l="l"/>
            <a:pathLst>
              <a:path h="1082267" w="13519120">
                <a:moveTo>
                  <a:pt x="0" y="0"/>
                </a:moveTo>
                <a:lnTo>
                  <a:pt x="13519120" y="0"/>
                </a:lnTo>
                <a:lnTo>
                  <a:pt x="1351912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2603196" y="8997026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3018793" y="9208019"/>
            <a:ext cx="11934660" cy="36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“Divide the problem, solve the smaller parts, and merge the results.”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4798842" y="9204733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7612192" y="9902587"/>
            <a:ext cx="2840552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Generated using Canva AI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930312" y="7584795"/>
            <a:ext cx="3161109" cy="275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 spc="43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Stable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148195" y="2485515"/>
            <a:ext cx="460025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12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246393" y="2485515"/>
            <a:ext cx="246771" cy="41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8"/>
              </a:lnSpc>
            </a:pPr>
            <a:r>
              <a:rPr lang="en-US" b="true" sz="3168">
                <a:solidFill>
                  <a:srgbClr val="F6F6F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DAHX_UZtcdQ</dc:identifier>
  <dcterms:modified xsi:type="dcterms:W3CDTF">2011-08-01T06:04:30Z</dcterms:modified>
  <cp:revision>1</cp:revision>
  <dc:title>Merge Sort Algorithm</dc:title>
</cp:coreProperties>
</file>